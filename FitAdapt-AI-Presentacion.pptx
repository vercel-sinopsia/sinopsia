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82296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Segoe UI"/>
              </a:rPr>
              <a:t>PRÁCTICA 01  ·  ESPAD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1">
                <a:solidFill>
                  <a:srgbClr val="F1F5F9"/>
                </a:solidFill>
                <a:latin typeface="Segoe UI"/>
              </a:rPr>
              <a:t>Fit</a:t>
            </a:r>
            <a:r>
              <a:rPr sz="6400" b="1">
                <a:solidFill>
                  <a:srgbClr val="10B981"/>
                </a:solidFill>
                <a:latin typeface="Segoe UI"/>
              </a:rPr>
              <a:t>Adapt</a:t>
            </a:r>
            <a:r>
              <a:rPr sz="6400" b="1">
                <a:solidFill>
                  <a:srgbClr val="F1F5F9"/>
                </a:solidFill>
                <a:latin typeface="Segoe UI"/>
              </a:rPr>
              <a:t>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0632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94A3B8"/>
                </a:solidFill>
                <a:latin typeface="Segoe UI"/>
              </a:rPr>
              <a:t>Generador de rutinas de gimnasio con Inteligencia Artificial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703320"/>
            <a:ext cx="2377440" cy="3657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3977639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Aplicación web de pantalla única (SPA) con arquitectura full-stack serverless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Vue 3 + TypeScript  ·  FastAPI + Pydantic v2  ·  Vercel  ·  OpenAI / Groq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874519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4D399"/>
                </a:solidFill>
                <a:latin typeface="Segoe UI"/>
              </a:rPr>
              <a:t>Vue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52760" y="1874519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8BDF8"/>
                </a:solidFill>
                <a:latin typeface="Segoe UI"/>
              </a:rP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2441448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BBF24"/>
                </a:solidFill>
                <a:latin typeface="Segoe UI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52760" y="2441448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BBF24"/>
                </a:solidFill>
                <a:latin typeface="Segoe UI"/>
              </a:rPr>
              <a:t>Pydantic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008376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8BDF8"/>
                </a:solidFill>
                <a:latin typeface="Segoe UI"/>
              </a:rPr>
              <a:t>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52760" y="3008376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1F5F9"/>
                </a:solidFill>
                <a:latin typeface="Segoe UI"/>
              </a:rPr>
              <a:t>Vercel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3575303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4D399"/>
                </a:solidFill>
                <a:latin typeface="Segoe UI"/>
              </a:rPr>
              <a:t>OpenAI / Groq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52760" y="3575303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>Vitest · Pytest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806440"/>
            <a:ext cx="10607040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" y="5989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Especificación técnica · Diseño · Guía pedagógica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Serverless · Monorepositorio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Índice de la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25 DIAPOSITIVAS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02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04672" y="1673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28216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860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Descripción y propósito pedagógico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Flujo operativo en 4 etapas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Ejemplo de extremo a extremo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Objetivos de aprendizaje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599432" y="1673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728216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Stack y estructura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2860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Stack tecnológico y entorno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Monorepositorio del proyecto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Requisitos funcionales (RF)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Requisitos no funcionales (RNF)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94192" y="1673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1728216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Diagramas UML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860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Casos de uso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Clases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Actividad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Secuencia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Transición de estados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04672" y="3959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014215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Ejecución y calidad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5720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Plan de fases 1-6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Pruebas: Pytest · Vitest · vue-tsc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7033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599432" y="3959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4014215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Despliegue en Vercel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5720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Arquitectura serverless y enrutamiento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Variables de entorno y secretos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Pasos y verificación en producción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CLI, previews, dominio y logs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033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12480" y="3977639"/>
            <a:ext cx="2971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4D399"/>
                </a:solidFill>
                <a:latin typeface="Segoe UI"/>
              </a:rPr>
              <a:t>Enfoque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4D399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4D399"/>
                </a:solidFill>
                <a:latin typeface="Segoe UI"/>
              </a:rPr>
              <a:t>Cada bloque combina especificación, diagramas UML dibujados con formas nativas y referencias al código fuente del proyecto.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¿Qué es FitAdapt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DESCRIPCIÓN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03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SPA de pantalla única </a:t>
            </a:r>
            <a:r>
              <a:rPr sz="1300" b="0">
                <a:solidFill>
                  <a:srgbClr val="94A3B8"/>
                </a:solidFill>
                <a:latin typeface="Segoe UI"/>
              </a:rPr>
              <a:t>enfocada en el acondicionamiento físico personalizado mediante IA: el usuario configura 4 parámetros y recibe una rutina estructurada, validada de extremo a extremo.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Descripción del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9377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Pantalla única (SPA): </a:t>
            </a:r>
            <a:r>
              <a:rPr sz="1050" b="0">
                <a:solidFill>
                  <a:srgbClr val="94A3B8"/>
                </a:solidFill>
                <a:latin typeface="Segoe UI"/>
              </a:rPr>
              <a:t>formulario y resultados conviven en la misma vista, sin navegación externa.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4 parámetros de entrada: </a:t>
            </a:r>
            <a:r>
              <a:rPr sz="1050" b="0">
                <a:solidFill>
                  <a:srgbClr val="94A3B8"/>
                </a:solidFill>
                <a:latin typeface="Segoe UI"/>
              </a:rPr>
              <a:t>objetivo, tiempo disponible, equipamiento y nivel de experiencia.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Backend serverless: </a:t>
            </a:r>
            <a:r>
              <a:rPr sz="1050" b="0">
                <a:solidFill>
                  <a:srgbClr val="94A3B8"/>
                </a:solidFill>
                <a:latin typeface="Segoe UI"/>
              </a:rPr>
              <a:t>FastAPI recibe un POST /api/generate-routine y valida con Pydantic v2.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IA estructurada: </a:t>
            </a:r>
            <a:r>
              <a:rPr sz="1050" b="0">
                <a:solidFill>
                  <a:srgbClr val="94A3B8"/>
                </a:solidFill>
                <a:latin typeface="Segoe UI"/>
              </a:rPr>
              <a:t>System Prompt defensivo que exige una respuesta exclusiva en JSON.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Render reactivo: </a:t>
            </a:r>
            <a:r>
              <a:rPr sz="1050" b="0">
                <a:solidFill>
                  <a:srgbClr val="94A3B8"/>
                </a:solidFill>
                <a:latin typeface="Segoe UI"/>
              </a:rPr>
              <a:t>tarjetas con calentamiento, ejercicios (series, RPE, descansos) y alternativas.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42316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2" y="26517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Propósito pedagógico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108960"/>
            <a:ext cx="49377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Arquitectura full-stack serverless: </a:t>
            </a:r>
            <a:r>
              <a:rPr sz="1050" b="0">
                <a:solidFill>
                  <a:srgbClr val="94A3B8"/>
                </a:solidFill>
                <a:latin typeface="Segoe UI"/>
              </a:rPr>
              <a:t>cliente Vite compilado a estáticos + funciones Python bajo el mismo origen.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Tipado estricto de extremo a extremo: </a:t>
            </a:r>
            <a:r>
              <a:rPr sz="1050" b="0">
                <a:solidFill>
                  <a:srgbClr val="94A3B8"/>
                </a:solidFill>
                <a:latin typeface="Segoe UI"/>
              </a:rPr>
              <a:t>interfaces TypeScript coherentes con los esquemas Pydantic.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Ingeniería de prompts: </a:t>
            </a:r>
            <a:r>
              <a:rPr sz="1050" b="0">
                <a:solidFill>
                  <a:srgbClr val="94A3B8"/>
                </a:solidFill>
                <a:latin typeface="Segoe UI"/>
              </a:rPr>
              <a:t>mensajes estructurados con rol de sistema y salida JSON forzada.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Control de estados reactivos: </a:t>
            </a:r>
            <a:r>
              <a:rPr sz="1050" b="0">
                <a:solidFill>
                  <a:srgbClr val="94A3B8"/>
                </a:solidFill>
                <a:latin typeface="Segoe UI"/>
              </a:rPr>
              <a:t>loading, errores y resultados como referencias reactivas de Vue 3.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50" b="1">
                <a:solidFill>
                  <a:srgbClr val="F1F5F9"/>
                </a:solidFill>
                <a:latin typeface="Segoe UI"/>
              </a:rPr>
              <a:t>Seguridad: </a:t>
            </a:r>
            <a:r>
              <a:rPr sz="1050" b="0">
                <a:solidFill>
                  <a:srgbClr val="94A3B8"/>
                </a:solidFill>
                <a:latin typeface="Segoe UI"/>
              </a:rPr>
              <a:t>secretos confinados en el servidor y doble barrera de validación.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Flujo operativo en 4 etapas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CÓMO FUNCIONA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04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166420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Captura paramétrica en el cliente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00400"/>
            <a:ext cx="640080" cy="274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21488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Panel unificado con 4 variables: objetivo (4 opciones), tiempo (slider 20-75 min, paso 5), equipamiento (píldoras multi-selección con mínimo 1) y nivel (3 opciones).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Vue 3 + TypeScript verifica la integridad local del estado.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72968" y="3657600"/>
            <a:ext cx="18288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74136" y="141732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602736" y="166420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33172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Validación y despacho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2736" y="3200400"/>
            <a:ext cx="640080" cy="274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02736" y="3401568"/>
            <a:ext cx="21488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El cliente bloquea la interfaz en modo asíncrono: botones deshabilitados y spinner activo.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Emite POST /api/generate-routine serializado en JSON.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8464" y="3657600"/>
            <a:ext cx="18288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99631" y="141732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28231" y="166420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233172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Intermediación y razonamiento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28231" y="3200400"/>
            <a:ext cx="640080" cy="274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8231" y="3401568"/>
            <a:ext cx="21488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Pydantic v2 valida tipos y rangos: si el payload es inconsistente responde HTTP 422 sin contactar con la IA.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Si es válido, construye un prompt blindado (System + User) y consulta al proveedor de IA con la API Key del servidor.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959" y="3657600"/>
            <a:ext cx="182881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25128" y="141732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9253728" y="166420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33172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Consumo y renderizado reactivo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3728" y="3200400"/>
            <a:ext cx="640080" cy="274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253728" y="3401568"/>
            <a:ext cx="21488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FastAPI valida defensivamente la respuesta con RutinaResponse y devuelve HTTP 200.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Vue renderiza la rutina segmentada: calentamiento, ejercicios con métricas, seguridad y alternativas de sustitución.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217920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Ejemplo práctico de extremo a extremo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CASO DE USO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05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892040" cy="1600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Escenario: Carlos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Solo dispone del descanso de mediodía.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No quiere perder tiempo planificando ni esperando máquinas ocupadas.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2377440" cy="41148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4D399"/>
                </a:solidFill>
                <a:latin typeface="Segoe UI"/>
              </a:rPr>
              <a:t>Hipertrofia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5808" y="3017520"/>
            <a:ext cx="2377440" cy="41148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4D399"/>
                </a:solidFill>
                <a:latin typeface="Segoe UI"/>
              </a:rPr>
              <a:t>35 minutos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39"/>
            <a:ext cx="2377440" cy="41148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4D399"/>
                </a:solidFill>
                <a:latin typeface="Segoe UI"/>
              </a:rPr>
              <a:t>Mancuernas + peso corporal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5808" y="3520439"/>
            <a:ext cx="2377440" cy="41148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4D399"/>
                </a:solidFill>
                <a:latin typeface="Segoe UI"/>
              </a:rPr>
              <a:t>Principiante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Payload HTTP hacia 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4892040" cy="178308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" y="4535424"/>
            <a:ext cx="4636007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</a:t>
            </a:r>
            <a:r>
              <a:rPr sz="950">
                <a:solidFill>
                  <a:srgbClr val="6EE7B7"/>
                </a:solidFill>
                <a:latin typeface="Consolas"/>
              </a:rPr>
              <a:t>"objetivo"</a:t>
            </a:r>
            <a:r>
              <a:rPr sz="950">
                <a:solidFill>
                  <a:srgbClr val="F1F5F9"/>
                </a:solidFill>
                <a:latin typeface="Consolas"/>
              </a:rPr>
              <a:t>: </a:t>
            </a:r>
            <a:r>
              <a:rPr sz="950">
                <a:solidFill>
                  <a:srgbClr val="6EE7B7"/>
                </a:solidFill>
                <a:latin typeface="Consolas"/>
              </a:rPr>
              <a:t>"hipertrofia"</a:t>
            </a:r>
            <a:r>
              <a:rPr sz="95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</a:t>
            </a:r>
            <a:r>
              <a:rPr sz="950">
                <a:solidFill>
                  <a:srgbClr val="6EE7B7"/>
                </a:solidFill>
                <a:latin typeface="Consolas"/>
              </a:rPr>
              <a:t>"tiempo_minutos"</a:t>
            </a:r>
            <a:r>
              <a:rPr sz="950">
                <a:solidFill>
                  <a:srgbClr val="F1F5F9"/>
                </a:solidFill>
                <a:latin typeface="Consolas"/>
              </a:rPr>
              <a:t>: </a:t>
            </a:r>
            <a:r>
              <a:rPr sz="950">
                <a:solidFill>
                  <a:srgbClr val="FDE68A"/>
                </a:solidFill>
                <a:latin typeface="Consolas"/>
              </a:rPr>
              <a:t>35</a:t>
            </a:r>
            <a:r>
              <a:rPr sz="95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</a:t>
            </a:r>
            <a:r>
              <a:rPr sz="950">
                <a:solidFill>
                  <a:srgbClr val="6EE7B7"/>
                </a:solidFill>
                <a:latin typeface="Consolas"/>
              </a:rPr>
              <a:t>"equipamiento"</a:t>
            </a:r>
            <a:r>
              <a:rPr sz="950">
                <a:solidFill>
                  <a:srgbClr val="F1F5F9"/>
                </a:solidFill>
                <a:latin typeface="Consolas"/>
              </a:rPr>
              <a:t>: [</a:t>
            </a:r>
            <a:r>
              <a:rPr sz="950">
                <a:solidFill>
                  <a:srgbClr val="6EE7B7"/>
                </a:solidFill>
                <a:latin typeface="Consolas"/>
              </a:rPr>
              <a:t>"mancuernas"</a:t>
            </a:r>
            <a:r>
              <a:rPr sz="950">
                <a:solidFill>
                  <a:srgbClr val="F1F5F9"/>
                </a:solidFill>
                <a:latin typeface="Consolas"/>
              </a:rPr>
              <a:t>, </a:t>
            </a:r>
            <a:r>
              <a:rPr sz="950">
                <a:solidFill>
                  <a:srgbClr val="6EE7B7"/>
                </a:solidFill>
                <a:latin typeface="Consolas"/>
              </a:rPr>
              <a:t>"peso_corporal"</a:t>
            </a:r>
            <a:r>
              <a:rPr sz="950">
                <a:solidFill>
                  <a:srgbClr val="F1F5F9"/>
                </a:solidFill>
                <a:latin typeface="Consolas"/>
              </a:rPr>
              <a:t>],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</a:t>
            </a:r>
            <a:r>
              <a:rPr sz="950">
                <a:solidFill>
                  <a:srgbClr val="6EE7B7"/>
                </a:solidFill>
                <a:latin typeface="Consolas"/>
              </a:rPr>
              <a:t>"nivel"</a:t>
            </a:r>
            <a:r>
              <a:rPr sz="950">
                <a:solidFill>
                  <a:srgbClr val="F1F5F9"/>
                </a:solidFill>
                <a:latin typeface="Consolas"/>
              </a:rPr>
              <a:t>: </a:t>
            </a:r>
            <a:r>
              <a:rPr sz="950">
                <a:solidFill>
                  <a:srgbClr val="6EE7B7"/>
                </a:solidFill>
                <a:latin typeface="Consolas"/>
              </a:rPr>
              <a:t>"principiante"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280160"/>
            <a:ext cx="5879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Respuesta JSON estructurada devuelta por el 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600200"/>
            <a:ext cx="5879592" cy="393192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88736" y="1700784"/>
            <a:ext cx="562355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</a:t>
            </a:r>
            <a:r>
              <a:rPr sz="860">
                <a:solidFill>
                  <a:srgbClr val="6EE7B7"/>
                </a:solidFill>
                <a:latin typeface="Consolas"/>
              </a:rPr>
              <a:t>"calentamiento"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6EE7B7"/>
                </a:solidFill>
                <a:latin typeface="Consolas"/>
              </a:rPr>
              <a:t>"3 minutos de rotaciones articulares "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"(hombros y caderas) seguidos de flexiones inclinadas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</a:t>
            </a:r>
            <a:r>
              <a:rPr sz="860">
                <a:solidFill>
                  <a:srgbClr val="6EE7B7"/>
                </a:solidFill>
                <a:latin typeface="Consolas"/>
              </a:rPr>
              <a:t>"suaves y sentadillas al aire."</a:t>
            </a:r>
            <a:r>
              <a:rPr sz="86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</a:t>
            </a:r>
            <a:r>
              <a:rPr sz="860">
                <a:solidFill>
                  <a:srgbClr val="6EE7B7"/>
                </a:solidFill>
                <a:latin typeface="Consolas"/>
              </a:rPr>
              <a:t>"ejercicios"</a:t>
            </a:r>
            <a:r>
              <a:rPr sz="860">
                <a:solidFill>
                  <a:srgbClr val="F1F5F9"/>
                </a:solidFill>
                <a:latin typeface="Consolas"/>
              </a:rPr>
              <a:t>: [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  </a:t>
            </a:r>
            <a:r>
              <a:rPr sz="860">
                <a:solidFill>
                  <a:srgbClr val="6EE7B7"/>
                </a:solidFill>
                <a:latin typeface="Consolas"/>
              </a:rPr>
              <a:t>"nombre"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6EE7B7"/>
                </a:solidFill>
                <a:latin typeface="Consolas"/>
              </a:rPr>
              <a:t>"Sentadilla Goblet con Mancuerna"</a:t>
            </a:r>
            <a:r>
              <a:rPr sz="86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  </a:t>
            </a:r>
            <a:r>
              <a:rPr sz="860">
                <a:solidFill>
                  <a:srgbClr val="6EE7B7"/>
                </a:solidFill>
                <a:latin typeface="Consolas"/>
              </a:rPr>
              <a:t>"series"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FDE68A"/>
                </a:solidFill>
                <a:latin typeface="Consolas"/>
              </a:rPr>
              <a:t>3</a:t>
            </a:r>
            <a:r>
              <a:rPr sz="86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  </a:t>
            </a:r>
            <a:r>
              <a:rPr sz="860">
                <a:solidFill>
                  <a:srgbClr val="6EE7B7"/>
                </a:solidFill>
                <a:latin typeface="Consolas"/>
              </a:rPr>
              <a:t>"repeticiones"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6EE7B7"/>
                </a:solidFill>
                <a:latin typeface="Consolas"/>
              </a:rPr>
              <a:t>"10-12"</a:t>
            </a:r>
            <a:r>
              <a:rPr sz="86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  </a:t>
            </a:r>
            <a:r>
              <a:rPr sz="860">
                <a:solidFill>
                  <a:srgbClr val="6EE7B7"/>
                </a:solidFill>
                <a:latin typeface="Consolas"/>
              </a:rPr>
              <a:t>"descanso_segundos"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FDE68A"/>
                </a:solidFill>
                <a:latin typeface="Consolas"/>
              </a:rPr>
              <a:t>60</a:t>
            </a:r>
            <a:r>
              <a:rPr sz="86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  </a:t>
            </a:r>
            <a:r>
              <a:rPr sz="860">
                <a:solidFill>
                  <a:srgbClr val="6EE7B7"/>
                </a:solidFill>
                <a:latin typeface="Consolas"/>
              </a:rPr>
              <a:t>"rpe_sugerido"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6EE7B7"/>
                </a:solidFill>
                <a:latin typeface="Consolas"/>
              </a:rPr>
              <a:t>"RPE 7"</a:t>
            </a:r>
            <a:r>
              <a:rPr sz="86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  </a:t>
            </a:r>
            <a:r>
              <a:rPr sz="860">
                <a:solidFill>
                  <a:srgbClr val="6EE7B7"/>
                </a:solidFill>
                <a:latin typeface="Consolas"/>
              </a:rPr>
              <a:t>"consejo_tecnico"</a:t>
            </a:r>
            <a:r>
              <a:rPr sz="860">
                <a:solidFill>
                  <a:srgbClr val="F1F5F9"/>
                </a:solidFill>
                <a:latin typeface="Consolas"/>
              </a:rPr>
              <a:t>: "Mantén los talones apoyados y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    </a:t>
            </a:r>
            <a:r>
              <a:rPr sz="860">
                <a:solidFill>
                  <a:srgbClr val="6EE7B7"/>
                </a:solidFill>
                <a:latin typeface="Consolas"/>
              </a:rPr>
              <a:t>"el pecho elevado contra el esternón."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{ </a:t>
            </a:r>
            <a:r>
              <a:rPr sz="860">
                <a:solidFill>
                  <a:srgbClr val="6EE7B7"/>
                </a:solidFill>
                <a:latin typeface="Consolas"/>
              </a:rPr>
              <a:t>"nombre"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6EE7B7"/>
                </a:solidFill>
                <a:latin typeface="Consolas"/>
              </a:rPr>
              <a:t>"Flexiones con manos elevadas"</a:t>
            </a:r>
            <a:r>
              <a:rPr sz="860">
                <a:solidFill>
                  <a:srgbClr val="F1F5F9"/>
                </a:solidFill>
                <a:latin typeface="Consolas"/>
              </a:rPr>
              <a:t>, ... },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{ </a:t>
            </a:r>
            <a:r>
              <a:rPr sz="860">
                <a:solidFill>
                  <a:srgbClr val="6EE7B7"/>
                </a:solidFill>
                <a:latin typeface="Consolas"/>
              </a:rPr>
              <a:t>"nombre"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6EE7B7"/>
                </a:solidFill>
                <a:latin typeface="Consolas"/>
              </a:rPr>
              <a:t>"Remo con mancuerna a una mano"</a:t>
            </a:r>
            <a:r>
              <a:rPr sz="860">
                <a:solidFill>
                  <a:srgbClr val="F1F5F9"/>
                </a:solidFill>
                <a:latin typeface="Consolas"/>
              </a:rPr>
              <a:t>, ... }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],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</a:t>
            </a:r>
            <a:r>
              <a:rPr sz="860">
                <a:solidFill>
                  <a:srgbClr val="6EE7B7"/>
                </a:solidFill>
                <a:latin typeface="Consolas"/>
              </a:rPr>
              <a:t>"alternativa_rapida"</a:t>
            </a:r>
            <a:r>
              <a:rPr sz="860">
                <a:solidFill>
                  <a:srgbClr val="F1F5F9"/>
                </a:solidFill>
                <a:latin typeface="Consolas"/>
              </a:rPr>
              <a:t>: "Zancadas dinámicas con peso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  </a:t>
            </a:r>
            <a:r>
              <a:rPr sz="860">
                <a:solidFill>
                  <a:srgbClr val="6EE7B7"/>
                </a:solidFill>
                <a:latin typeface="Consolas"/>
              </a:rPr>
              <a:t>"corporal duplicando las repeticiones."</a:t>
            </a:r>
            <a:r>
              <a:rPr sz="86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  </a:t>
            </a:r>
            <a:r>
              <a:rPr sz="860">
                <a:solidFill>
                  <a:srgbClr val="6EE7B7"/>
                </a:solidFill>
                <a:latin typeface="Consolas"/>
              </a:rPr>
              <a:t>"tiempo_total_estimado"</a:t>
            </a:r>
            <a:r>
              <a:rPr sz="860">
                <a:solidFill>
                  <a:srgbClr val="F1F5F9"/>
                </a:solidFill>
                <a:latin typeface="Consolas"/>
              </a:rPr>
              <a:t>: </a:t>
            </a:r>
            <a:r>
              <a:rPr sz="860">
                <a:solidFill>
                  <a:srgbClr val="FDE68A"/>
                </a:solidFill>
                <a:latin typeface="Consolas"/>
              </a:rPr>
              <a:t>35</a:t>
            </a:r>
          </a:p>
          <a:p>
            <a:pPr algn="l">
              <a:lnSpc>
                <a:spcPct val="100000"/>
              </a:lnSpc>
            </a:pPr>
            <a:r>
              <a:rPr sz="860" b="0">
                <a:solidFill>
                  <a:srgbClr val="F1F5F9"/>
                </a:solidFill>
                <a:latin typeface="Consolas"/>
              </a:rPr>
              <a:t/>
            </a:r>
            <a:r>
              <a:rPr sz="86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5669280"/>
            <a:ext cx="5879592" cy="548640"/>
          </a:xfrm>
          <a:prstGeom prst="roundRect">
            <a:avLst>
              <a:gd name="adj" fmla="val 8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89320" y="576072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34D399"/>
                </a:solidFill>
                <a:latin typeface="Segoe UI"/>
              </a:rPr>
              <a:t>Renderizado: </a:t>
            </a:r>
            <a:r>
              <a:rPr sz="950" b="0">
                <a:solidFill>
                  <a:srgbClr val="F1F5F9"/>
                </a:solidFill>
                <a:latin typeface="Segoe UI"/>
              </a:rPr>
              <a:t>el cliente oculta el estado de carga y despliega las tarjetas de entrenamiento paso a paso.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B981"/>
                </a:solidFill>
                <a:latin typeface="Consolas"/>
              </a:rPr>
              <a:t>POST /api/generate-routine  →  HTTP 200 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Objetivos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7 COMPETENCIAS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06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0604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Tipado estricto E2E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Interfaces TypeScript coherentes con los esquemas Pydantic: contrato de datos homogéneo.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371600"/>
            <a:ext cx="260604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602736" y="160020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1945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Reactividad con Vue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7889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&lt;script setup lang="ts"&gt;, ref, v-model, v-if/v-else y v-for.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1371600"/>
            <a:ext cx="260604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428231" y="160020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1945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Diseño modular con 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7889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Interfaz mobile-first accesible con estados interactivos y paleta oscura temática.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1371600"/>
            <a:ext cx="260604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253728" y="160020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1945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Seguridad en LLMs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7889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System Prompt defensivo y validaciones restrictivas previas contra Prompt Injection.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04672" y="406908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1148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Aislamiento de secretos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7548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OPENAI_API_KEY solo en el entorno del servidor: nunca viaja al navegador.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84048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599432" y="406908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148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Pruebas automatizadas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7548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Pytest con TestClient y mocks de IA; Vitest + @vue/test-utils sobre jsdom.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84048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394192" y="406908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11480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Monorepositorio serverless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7548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Vite compilado a estáticos y endpoints Python bajo el mismo origen en Vercel.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Stack tecnológico y requisitos del entorno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TECNOLOGÍAS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07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74066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108960"/>
              </a:tblGrid>
              <a:tr h="4152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30712"/>
                          </a:solidFill>
                          <a:latin typeface="Segoe UI"/>
                        </a:rPr>
                        <a:t>Capa / Rol</a:t>
                      </a:r>
                    </a:p>
                  </a:txBody>
                  <a:tcPr marL="91440" marR="54864" marT="27432" marB="27432" anchor="ctr">
                    <a:solidFill>
                      <a:srgbClr val="10B98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30712"/>
                          </a:solidFill>
                          <a:latin typeface="Segoe UI"/>
                        </a:rPr>
                        <a:t>Tecnología</a:t>
                      </a:r>
                    </a:p>
                  </a:txBody>
                  <a:tcPr marL="91440" marR="54864" marT="27432" marB="27432" anchor="ctr">
                    <a:solidFill>
                      <a:srgbClr val="10B98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30712"/>
                          </a:solidFill>
                          <a:latin typeface="Segoe UI"/>
                        </a:rPr>
                        <a:t>Versión / Utilidad</a:t>
                      </a:r>
                    </a:p>
                  </a:txBody>
                  <a:tcPr marL="91440" marR="54864" marT="27432" marB="27432" anchor="ctr">
                    <a:solidFill>
                      <a:srgbClr val="10B981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Lenguaje Frontend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TypeScript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v5.x — tipado estricto en cliente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Framework UI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Vue.js 3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Composition API con &lt;script setup lang="ts"&gt;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Herramienta de Build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Vite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v5.x con @vitejs/plugin-vue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Framework de Estilos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Tailwind CSS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v3.4 con Autoprefixer y PostCSS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Iconografía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lucide-vue-next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Iconos vectoriales accesibles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Testing Frontend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Vitest + Vue Test Utils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Pruebas de componentes en jsdom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Backend Framework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FastAPI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Framework web ASGI de alto rendimiento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Validación de Datos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Pydantic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v2.x — validación estructural y parseo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SDK de IA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OpenAI Python SDK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v1.x — compatible con OpenAI y Groq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Testing Backend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Pytest + HTTPX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Endpoints con soporte asíncrono</a:t>
                      </a:r>
                    </a:p>
                  </a:txBody>
                  <a:tcPr marL="91440" marR="54864" marT="27432" marB="27432" anchor="ctr">
                    <a:solidFill>
                      <a:srgbClr val="1E293B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Segoe UI"/>
                        </a:rPr>
                        <a:t>Hosting y CI/CD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Segoe UI"/>
                        </a:rPr>
                        <a:t>Vercel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94A3B8"/>
                          </a:solidFill>
                          <a:latin typeface="Segoe UI"/>
                        </a:rPr>
                        <a:t>Monorepositorio + Serverless Runtimes</a:t>
                      </a:r>
                    </a:p>
                  </a:txBody>
                  <a:tcPr marL="91440" marR="54864" marT="27432" marB="27432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38160" y="1280160"/>
            <a:ext cx="3520440" cy="4983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0" y="1508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Requisitos del entorno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74519"/>
            <a:ext cx="640080" cy="274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00" b="1">
                <a:solidFill>
                  <a:srgbClr val="F1F5F9"/>
                </a:solidFill>
                <a:latin typeface="Segoe UI"/>
              </a:rPr>
              <a:t>Node.js </a:t>
            </a:r>
            <a:r>
              <a:rPr sz="1000" b="0">
                <a:solidFill>
                  <a:srgbClr val="94A3B8"/>
                </a:solidFill>
                <a:latin typeface="Segoe UI"/>
              </a:rPr>
              <a:t>18.x o 20.x LTS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00" b="1">
                <a:solidFill>
                  <a:srgbClr val="F1F5F9"/>
                </a:solidFill>
                <a:latin typeface="Segoe UI"/>
              </a:rPr>
              <a:t>Python </a:t>
            </a:r>
            <a:r>
              <a:rPr sz="1000" b="0">
                <a:solidFill>
                  <a:srgbClr val="94A3B8"/>
                </a:solidFill>
                <a:latin typeface="Segoe UI"/>
              </a:rPr>
              <a:t>3.10 / 3.11 con pip y venv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00" b="1">
                <a:solidFill>
                  <a:srgbClr val="F1F5F9"/>
                </a:solidFill>
                <a:latin typeface="Segoe UI"/>
              </a:rPr>
              <a:t>Git </a:t>
            </a:r>
            <a:r>
              <a:rPr sz="1000" b="0">
                <a:solidFill>
                  <a:srgbClr val="94A3B8"/>
                </a:solidFill>
                <a:latin typeface="Segoe UI"/>
              </a:rPr>
              <a:t>control de versiones y despliegue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00" b="1">
                <a:solidFill>
                  <a:srgbClr val="F1F5F9"/>
                </a:solidFill>
                <a:latin typeface="Segoe UI"/>
              </a:rPr>
              <a:t>Proveedor de IA </a:t>
            </a:r>
            <a:r>
              <a:rPr sz="1000" b="0">
                <a:solidFill>
                  <a:srgbClr val="94A3B8"/>
                </a:solidFill>
                <a:latin typeface="Segoe UI"/>
              </a:rPr>
              <a:t>clave OpenAI (sk-...) o Groq (gsk-...)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 </a:t>
            </a:r>
            <a:r>
              <a:rPr sz="1000" b="1">
                <a:solidFill>
                  <a:srgbClr val="F1F5F9"/>
                </a:solidFill>
                <a:latin typeface="Segoe UI"/>
              </a:rPr>
              <a:t>Vercel </a:t>
            </a:r>
            <a:r>
              <a:rPr sz="1000" b="0">
                <a:solidFill>
                  <a:srgbClr val="94A3B8"/>
                </a:solidFill>
                <a:latin typeface="Segoe UI"/>
              </a:rPr>
              <a:t>cuenta activa y CLI para producción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66344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0" y="480060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# scripts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npm run dev      # Vite :5173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npm run build    # vue-tsc + vite build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npm test         # Vitest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pytest api/      # Pytest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Estructura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MONOREPOSITORIO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08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7223760" cy="493776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" y="1380744"/>
            <a:ext cx="6967728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fitadapt-vue-ts/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api/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├── __init__.py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Marca el directorio como paquete Python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├── index.py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FastAPI, endpoints, esquemas y llamadas LLM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└── test_api.py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Suite Pytest con mocks de la IA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public/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└── favicon.ico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Favicon del sistema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src/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├── types/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│   └── workout.ts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Tipos e interfaces TypeScript compartidas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├── App.vue 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Componente principal SPA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├── env.d.ts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Declaraciones de tipado para Vite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├── main.ts 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Inicialización y montaje de Vue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└── style.css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Directivas base de Tailwind CSS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tests/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│   └── App.spec.ts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Suite frontend con Vitest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.env.example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Plantilla de variables de entorno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.gitignore  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venv, node_modules, dist y .env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index.html  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Punto de entrada HTML5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package.json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Dependencias y scripts de npm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postcss.config.js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Pipeline de PostCSS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requirements.txt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Dependencias Python (build de Vercel)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tailwind.config.js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Barrido de archivos de Tailwind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tsconfig.json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Compilación TypeScript estricta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tsconfig.node.json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TypeScript para la config de Vite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├── vercel.json 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Rewrites hacia funciones serverless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└── vite.config.ts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Vite, proxy de dev y runner de Vitest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28016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0" y="146303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Consolas"/>
              </a:rPr>
              <a:t>api/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Backend serverless en Python: FastAPI + Pydantic + llamadas a la 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69748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0" y="2880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8BDF8"/>
                </a:solidFill>
                <a:latin typeface="Consolas"/>
              </a:rPr>
              <a:t>src/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2783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SPA en Vue 3 + TypeScript con tipado compartido y estilos Tailwind.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11480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0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BBF24"/>
                </a:solidFill>
                <a:latin typeface="Consolas"/>
              </a:rPr>
              <a:t>raíz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64515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Configuración unificada de Vite, TypeScript, Tailwind, Vitest y Vercel.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5532120"/>
            <a:ext cx="3639312" cy="685800"/>
          </a:xfrm>
          <a:prstGeom prst="roundRect">
            <a:avLst>
              <a:gd name="adj" fmla="val 8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0" y="565099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4D399"/>
                </a:solidFill>
                <a:latin typeface="Segoe UI"/>
              </a:rPr>
              <a:t>Cliente estático y función Python conviven en el mismo repositorio: despliegue único.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Requisitos funcionales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RF-01 … RF-05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09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91672" cy="1874519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22960" y="14813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1790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Selección paramétrica restringida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574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15798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Consolas"/>
              </a:rPr>
              <a:t>RF-01.1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77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1F5F9"/>
                </a:solidFill>
                <a:latin typeface="Segoe UI"/>
              </a:rPr>
              <a:t>Un único objetivo: </a:t>
            </a:r>
            <a:r>
              <a:rPr sz="880" b="0">
                <a:solidFill>
                  <a:srgbClr val="94A3B8"/>
                </a:solidFill>
                <a:latin typeface="Segoe UI"/>
              </a:rPr>
              <a:t>hipertrofia, fuerza, perdida_grasa o resistencia.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0574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75888" y="215798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Consolas"/>
              </a:rPr>
              <a:t>RF-01.2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377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1F5F9"/>
                </a:solidFill>
                <a:latin typeface="Segoe UI"/>
              </a:rPr>
              <a:t>Duración acotada: </a:t>
            </a:r>
            <a:r>
              <a:rPr sz="880" b="0">
                <a:solidFill>
                  <a:srgbClr val="94A3B8"/>
                </a:solidFill>
                <a:latin typeface="Segoe UI"/>
              </a:rPr>
              <a:t>slider estricto entre 20 y 75 minutos, saltos de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0574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91656" y="215798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Consolas"/>
              </a:rPr>
              <a:t>RF-01.3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377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1F5F9"/>
                </a:solidFill>
                <a:latin typeface="Segoe UI"/>
              </a:rPr>
              <a:t>Equipamiento conmutable: </a:t>
            </a:r>
            <a:r>
              <a:rPr sz="880" b="0">
                <a:solidFill>
                  <a:srgbClr val="94A3B8"/>
                </a:solidFill>
                <a:latin typeface="Segoe UI"/>
              </a:rPr>
              <a:t>imposible desmarcar todas las opciones (mínimo 1).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20574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07424" y="215798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Consolas"/>
              </a:rPr>
              <a:t>RF-01.4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377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1F5F9"/>
                </a:solidFill>
                <a:latin typeface="Segoe UI"/>
              </a:rPr>
              <a:t>Nivel de experiencia: </a:t>
            </a:r>
            <a:r>
              <a:rPr sz="880" b="0">
                <a:solidFill>
                  <a:srgbClr val="94A3B8"/>
                </a:solidFill>
                <a:latin typeface="Segoe UI"/>
              </a:rPr>
              <a:t>principiante, intermedio o avanzado.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8328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RF-02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776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Procesamiento asíncrono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72000"/>
            <a:ext cx="640080" cy="274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75488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Al enviar: inhabilitar controles, activar spinner e iniciar la llamada a /api/generate-routine.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74136" y="338328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602736" y="3611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RF-03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39776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Esquema de rutina específico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2736" y="4572000"/>
            <a:ext cx="640080" cy="274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02736" y="475488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Calentamiento, lista de ejercicios con métricas (series, reps, descanso, RPE, consejo), alternativa y tiempo total.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1" y="338328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28231" y="3611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RF-04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39776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Presentación visual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8231" y="4572000"/>
            <a:ext cx="640080" cy="274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28231" y="475488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Resultados estructurados en bloques diferenciados dentro de la misma pantalla.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338328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53728" y="3611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RF-05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39776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Errores y recuperación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53728" y="4572000"/>
            <a:ext cx="640080" cy="274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53728" y="475488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Ante 422/500/502 o fallo de red: tarjeta de aviso visible y formulario listo para reintentar.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Requisitos no funcionales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RNF-01 … RNF-05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10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1508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RNF-01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Confinamiento de secretos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688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OPENAI_API_KEY reside exclusivamente en el entorno del servidor. Ningún encabezado ni payload del navegador contiene claves privadas.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8016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99432" y="1508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RNF-02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Defensa frente a Prompt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688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Parámetros restringidos a enumeraciones y enteros antes de interpolación del prompt. No hay texto libre que adultere las directivas del modelo.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94192" y="1508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RNF-03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Doble barrera de validación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4688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Toda restricción de la UI se revalida de forma idéntica en el backend con Pydantic v2. Peticiones adulteradas → HTTP 422.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862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114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RNF-04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4531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Cohesión de 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9834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El mismo código funciona en desarrollo (proxy de Vite) y en producción (rewrites de vercel.json), siempre bajo el mismo origen: cero problemas de CORS.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8862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99432" y="4114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onsolas"/>
              </a:rPr>
              <a:t>RNF-05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4531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Calidad de código y tipado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9834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El frontend compila con cero errores en vue-tsc --noEmit bajo las directivas de TypeScript estricto.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8862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94192" y="4114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Doble barrera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4526280"/>
            <a:ext cx="3017520" cy="347472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Segoe UI"/>
              </a:rPr>
              <a:t>UI  ·  validaciones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02952" y="4873752"/>
            <a:ext cx="0" cy="109728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394192" y="4983480"/>
            <a:ext cx="3017520" cy="347472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BBF24"/>
                </a:solidFill>
                <a:latin typeface="Segoe UI"/>
              </a:rPr>
              <a:t>Backend  ·  Pydantic v2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02952" y="5330952"/>
            <a:ext cx="0" cy="109728"/>
          </a:xfrm>
          <a:prstGeom prst="line">
            <a:avLst/>
          </a:prstGeom>
          <a:ln w="1524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94192" y="5440680"/>
            <a:ext cx="3017520" cy="347472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B7185"/>
                </a:solidFill>
                <a:latin typeface="Segoe UI"/>
              </a:rPr>
              <a:t>HTTP 422 si falla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Diagrama de 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UML · 1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11 / 25</a:t>
            </a:r>
          </a:p>
        </p:txBody>
      </p:sp>
      <p:sp>
        <p:nvSpPr>
          <p:cNvPr id="8" name="Oval 7"/>
          <p:cNvSpPr/>
          <p:nvPr/>
        </p:nvSpPr>
        <p:spPr>
          <a:xfrm>
            <a:off x="1170432" y="2286000"/>
            <a:ext cx="420624" cy="420624"/>
          </a:xfrm>
          <a:prstGeom prst="ellipse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1380744" y="2706624"/>
            <a:ext cx="0" cy="996696"/>
          </a:xfrm>
          <a:prstGeom prst="line">
            <a:avLst/>
          </a:prstGeom>
          <a:ln w="1905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" y="3017520"/>
            <a:ext cx="749808" cy="0"/>
          </a:xfrm>
          <a:prstGeom prst="line">
            <a:avLst/>
          </a:prstGeom>
          <a:ln w="1905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60704" y="3703320"/>
            <a:ext cx="320040" cy="594360"/>
          </a:xfrm>
          <a:prstGeom prst="line">
            <a:avLst/>
          </a:prstGeom>
          <a:ln w="1905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80744" y="3703320"/>
            <a:ext cx="320040" cy="594360"/>
          </a:xfrm>
          <a:prstGeom prst="line">
            <a:avLst/>
          </a:prstGeom>
          <a:ln w="1905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3708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1F5F9"/>
                </a:solidFill>
                <a:latin typeface="Segoe UI"/>
              </a:rPr>
              <a:t>Usuario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325880"/>
            <a:ext cx="6949440" cy="484632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926080" y="1207008"/>
            <a:ext cx="2286000" cy="274320"/>
          </a:xfrm>
          <a:prstGeom prst="roundRect">
            <a:avLst>
              <a:gd name="adj" fmla="val 25000"/>
            </a:avLst>
          </a:prstGeom>
          <a:solidFill>
            <a:srgbClr val="030712"/>
          </a:solidFill>
          <a:ln w="12700">
            <a:solidFill>
              <a:srgbClr val="0307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0B981"/>
                </a:solidFill>
                <a:latin typeface="Segoe UI"/>
              </a:rPr>
              <a:t>Sistema FitAdapt AI</a:t>
            </a:r>
          </a:p>
        </p:txBody>
      </p:sp>
      <p:sp>
        <p:nvSpPr>
          <p:cNvPr id="16" name="Oval 15"/>
          <p:cNvSpPr/>
          <p:nvPr/>
        </p:nvSpPr>
        <p:spPr>
          <a:xfrm>
            <a:off x="3063240" y="1783080"/>
            <a:ext cx="2286000" cy="65836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Segoe UI"/>
              </a:rPr>
              <a:t>UC-01</a:t>
            </a:r>
          </a:p>
          <a:p>
            <a:pPr algn="ctr">
              <a:lnSpc>
                <a:spcPct val="95000"/>
              </a:lnSpc>
            </a:pPr>
            <a:r>
              <a:rPr sz="800" b="0">
                <a:solidFill>
                  <a:srgbClr val="F1F5F9"/>
                </a:solidFill>
                <a:latin typeface="Segoe UI"/>
              </a:rPr>
              <a:t>Configurar parámetros de sesión</a:t>
            </a:r>
          </a:p>
        </p:txBody>
      </p:sp>
      <p:sp>
        <p:nvSpPr>
          <p:cNvPr id="17" name="Oval 16"/>
          <p:cNvSpPr/>
          <p:nvPr/>
        </p:nvSpPr>
        <p:spPr>
          <a:xfrm>
            <a:off x="3063240" y="2743200"/>
            <a:ext cx="2286000" cy="65836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Segoe UI"/>
              </a:rPr>
              <a:t>UC-02</a:t>
            </a:r>
          </a:p>
          <a:p>
            <a:pPr algn="ctr">
              <a:lnSpc>
                <a:spcPct val="95000"/>
              </a:lnSpc>
            </a:pPr>
            <a:r>
              <a:rPr sz="800" b="0">
                <a:solidFill>
                  <a:srgbClr val="F1F5F9"/>
                </a:solidFill>
                <a:latin typeface="Segoe UI"/>
              </a:rPr>
              <a:t>Solicitar generación de rutina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743200"/>
            <a:ext cx="2286000" cy="65836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Segoe UI"/>
              </a:rPr>
              <a:t>UC-03</a:t>
            </a:r>
          </a:p>
          <a:p>
            <a:pPr algn="ctr">
              <a:lnSpc>
                <a:spcPct val="95000"/>
              </a:lnSpc>
            </a:pPr>
            <a:r>
              <a:rPr sz="800" b="0">
                <a:solidFill>
                  <a:srgbClr val="F1F5F9"/>
                </a:solidFill>
                <a:latin typeface="Segoe UI"/>
              </a:rPr>
              <a:t>Validar restricciones en servidor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0" y="3794760"/>
            <a:ext cx="2286000" cy="65836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Segoe UI"/>
              </a:rPr>
              <a:t>UC-04</a:t>
            </a:r>
          </a:p>
          <a:p>
            <a:pPr algn="ctr">
              <a:lnSpc>
                <a:spcPct val="95000"/>
              </a:lnSpc>
            </a:pPr>
            <a:r>
              <a:rPr sz="800" b="0">
                <a:solidFill>
                  <a:srgbClr val="F1F5F9"/>
                </a:solidFill>
                <a:latin typeface="Segoe UI"/>
              </a:rPr>
              <a:t>Consultar motor de IA</a:t>
            </a:r>
          </a:p>
        </p:txBody>
      </p:sp>
      <p:sp>
        <p:nvSpPr>
          <p:cNvPr id="20" name="Oval 19"/>
          <p:cNvSpPr/>
          <p:nvPr/>
        </p:nvSpPr>
        <p:spPr>
          <a:xfrm>
            <a:off x="3063240" y="4937760"/>
            <a:ext cx="2286000" cy="65836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Segoe UI"/>
              </a:rPr>
              <a:t>UC-05</a:t>
            </a:r>
          </a:p>
          <a:p>
            <a:pPr algn="ctr">
              <a:lnSpc>
                <a:spcPct val="95000"/>
              </a:lnSpc>
            </a:pPr>
            <a:r>
              <a:rPr sz="800" b="0">
                <a:solidFill>
                  <a:srgbClr val="F1F5F9"/>
                </a:solidFill>
                <a:latin typeface="Segoe UI"/>
              </a:rPr>
              <a:t>Visualizar rutina estructurada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0" y="4937760"/>
            <a:ext cx="2286000" cy="65836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Segoe UI"/>
              </a:rPr>
              <a:t>UC-06</a:t>
            </a:r>
          </a:p>
          <a:p>
            <a:pPr algn="ctr">
              <a:lnSpc>
                <a:spcPct val="95000"/>
              </a:lnSpc>
            </a:pPr>
            <a:r>
              <a:rPr sz="800" b="0">
                <a:solidFill>
                  <a:srgbClr val="F1F5F9"/>
                </a:solidFill>
                <a:latin typeface="Segoe UI"/>
              </a:rPr>
              <a:t>Visualizar notificación de error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0" y="3566160"/>
            <a:ext cx="1737360" cy="9144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104120" y="3749039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38BDF8"/>
                </a:solidFill>
                <a:latin typeface="Segoe UI"/>
              </a:rPr>
              <a:t>Servicio LLM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38BDF8"/>
                </a:solidFill>
                <a:latin typeface="Segoe UI"/>
              </a:rPr>
              <a:t>OpenAI / Groq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828800" y="2121408"/>
            <a:ext cx="1234440" cy="75895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28800" y="3072384"/>
            <a:ext cx="1234440" cy="219456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49240" y="3072384"/>
            <a:ext cx="1874520" cy="0"/>
          </a:xfrm>
          <a:prstGeom prst="line">
            <a:avLst/>
          </a:prstGeom>
          <a:ln w="190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532120" y="2834640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532120" y="284378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0B981"/>
                </a:solidFill>
                <a:latin typeface="Segoe UI"/>
              </a:rPr>
              <a:t>&lt;&lt;include&gt;&gt;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66760" y="3401568"/>
            <a:ext cx="0" cy="393192"/>
          </a:xfrm>
          <a:prstGeom prst="line">
            <a:avLst/>
          </a:prstGeom>
          <a:ln w="190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485632" y="3419856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485632" y="34290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10B981"/>
                </a:solidFill>
                <a:latin typeface="Segoe UI"/>
              </a:rPr>
              <a:t>datos válidos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9509760" y="4023360"/>
            <a:ext cx="548640" cy="91440"/>
          </a:xfrm>
          <a:prstGeom prst="line">
            <a:avLst/>
          </a:prstGeom>
          <a:ln w="190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349240" y="4114800"/>
            <a:ext cx="1874520" cy="1078992"/>
          </a:xfrm>
          <a:prstGeom prst="line">
            <a:avLst/>
          </a:prstGeom>
          <a:ln w="190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577840" y="4343400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577840" y="435254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0B981"/>
                </a:solidFill>
                <a:latin typeface="Segoe UI"/>
              </a:rPr>
              <a:t>respuesta 200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66760" y="4453128"/>
            <a:ext cx="0" cy="484632"/>
          </a:xfrm>
          <a:prstGeom prst="line">
            <a:avLst/>
          </a:prstGeom>
          <a:ln w="19050">
            <a:solidFill>
              <a:srgbClr val="FB71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509760" y="3154680"/>
            <a:ext cx="347472" cy="0"/>
          </a:xfrm>
          <a:prstGeom prst="line">
            <a:avLst/>
          </a:prstGeom>
          <a:ln w="15875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57232" y="3154680"/>
            <a:ext cx="0" cy="2112264"/>
          </a:xfrm>
          <a:prstGeom prst="line">
            <a:avLst/>
          </a:prstGeom>
          <a:ln w="15875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509760" y="5266944"/>
            <a:ext cx="347472" cy="0"/>
          </a:xfrm>
          <a:prstGeom prst="line">
            <a:avLst/>
          </a:prstGeom>
          <a:ln w="15875">
            <a:solidFill>
              <a:srgbClr val="FB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828800" y="4251960"/>
            <a:ext cx="1234440" cy="1014984"/>
          </a:xfrm>
          <a:prstGeom prst="line">
            <a:avLst/>
          </a:prstGeom>
          <a:ln w="190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23760" y="5596128"/>
            <a:ext cx="0" cy="347472"/>
          </a:xfrm>
          <a:prstGeom prst="line">
            <a:avLst/>
          </a:prstGeom>
          <a:ln w="15875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828800" y="5943600"/>
            <a:ext cx="5394960" cy="0"/>
          </a:xfrm>
          <a:prstGeom prst="line">
            <a:avLst/>
          </a:prstGeom>
          <a:ln w="15875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828800" y="4572000"/>
            <a:ext cx="0" cy="1371600"/>
          </a:xfrm>
          <a:prstGeom prst="line">
            <a:avLst/>
          </a:prstGeom>
          <a:ln w="15875">
            <a:solidFill>
              <a:srgbClr val="FB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880360" y="6263640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Segoe UI"/>
              </a:rPr>
              <a:t>Relaciones: usuario ↔ sistema · include (validación) · éxitos en verde · errores en rosa discontinuo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Diagrama de clases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UML · 2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12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468880" cy="122529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2468880" cy="365760"/>
          </a:xfrm>
          <a:prstGeom prst="roundRect">
            <a:avLst>
              <a:gd name="adj" fmla="val 5000"/>
            </a:avLst>
          </a:prstGeom>
          <a:solidFill>
            <a:srgbClr val="065F46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48640" y="1618488"/>
            <a:ext cx="2468880" cy="73152"/>
          </a:xfrm>
          <a:prstGeom prst="roundRect">
            <a:avLst>
              <a:gd name="adj" fmla="val 0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36245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0">
                <a:solidFill>
                  <a:srgbClr val="64748B"/>
                </a:solidFill>
                <a:latin typeface="Segoe UI"/>
              </a:rPr>
              <a:t>&lt;&lt;enumeration&gt;&gt;</a:t>
            </a:r>
          </a:p>
          <a:p>
            <a:pPr algn="ctr">
              <a:lnSpc>
                <a:spcPct val="95000"/>
              </a:lnSpc>
            </a:pPr>
            <a:r>
              <a:rPr sz="950" b="1">
                <a:solidFill>
                  <a:srgbClr val="34D399"/>
                </a:solidFill>
                <a:latin typeface="Segoe UI"/>
              </a:rPr>
              <a:t>ObjetivoEnum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746504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hipertrofia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929384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fuerza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112264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perdida_grasa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295144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resistencia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71216"/>
            <a:ext cx="2468880" cy="104241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48640" y="2871216"/>
            <a:ext cx="2468880" cy="365760"/>
          </a:xfrm>
          <a:prstGeom prst="roundRect">
            <a:avLst>
              <a:gd name="adj" fmla="val 5000"/>
            </a:avLst>
          </a:prstGeom>
          <a:solidFill>
            <a:srgbClr val="065F46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2468880" cy="73152"/>
          </a:xfrm>
          <a:prstGeom prst="roundRect">
            <a:avLst>
              <a:gd name="adj" fmla="val 0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0">
                <a:solidFill>
                  <a:srgbClr val="64748B"/>
                </a:solidFill>
                <a:latin typeface="Segoe UI"/>
              </a:rPr>
              <a:t>&lt;&lt;enumeration&gt;&gt;</a:t>
            </a:r>
          </a:p>
          <a:p>
            <a:pPr algn="ctr">
              <a:lnSpc>
                <a:spcPct val="95000"/>
              </a:lnSpc>
            </a:pPr>
            <a:r>
              <a:rPr sz="950" b="1">
                <a:solidFill>
                  <a:srgbClr val="34D399"/>
                </a:solidFill>
                <a:latin typeface="Segoe UI"/>
              </a:rPr>
              <a:t>NivelEnum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29184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principiante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47472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intermedio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65760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avanzado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33672"/>
            <a:ext cx="2468880" cy="140817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48640" y="4233672"/>
            <a:ext cx="2468880" cy="365760"/>
          </a:xfrm>
          <a:prstGeom prst="roundRect">
            <a:avLst>
              <a:gd name="adj" fmla="val 5000"/>
            </a:avLst>
          </a:prstGeom>
          <a:solidFill>
            <a:srgbClr val="065F46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48640" y="4526280"/>
            <a:ext cx="2468880" cy="73152"/>
          </a:xfrm>
          <a:prstGeom prst="roundRect">
            <a:avLst>
              <a:gd name="adj" fmla="val 0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427024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700" b="0">
                <a:solidFill>
                  <a:srgbClr val="64748B"/>
                </a:solidFill>
                <a:latin typeface="Segoe UI"/>
              </a:rPr>
              <a:t>&lt;&lt;enumeration&gt;&gt;</a:t>
            </a:r>
          </a:p>
          <a:p>
            <a:pPr algn="ctr">
              <a:lnSpc>
                <a:spcPct val="95000"/>
              </a:lnSpc>
            </a:pPr>
            <a:r>
              <a:rPr sz="950" b="1">
                <a:solidFill>
                  <a:srgbClr val="34D399"/>
                </a:solidFill>
                <a:latin typeface="Segoe UI"/>
              </a:rPr>
              <a:t>EquipamientoEnum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46542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mancuernas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717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maquinas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02005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poleas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520293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barras_discos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538581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peso_corporal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1325880"/>
            <a:ext cx="3063240" cy="1371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794760" y="1325880"/>
            <a:ext cx="306324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794760" y="1618488"/>
            <a:ext cx="3063240" cy="73152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86200" y="1362456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WorkoutRequest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2776" y="1746504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objetivo : ObjetivoEnum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22776" y="1965960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tiempo_minutos : 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2776" y="2185416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equipamiento : List[EquipamientoEnum]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2776" y="240487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nivel : NivelEnum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1325880"/>
            <a:ext cx="3931920" cy="181051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7680960" y="1325880"/>
            <a:ext cx="393192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7680960" y="1618488"/>
            <a:ext cx="3931920" cy="73152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0" y="1362456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Ejercicio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8976" y="1746504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nombre : str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08976" y="1965960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series : 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08976" y="2185416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repeticiones : str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08976" y="2404872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descanso_segundos : 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8976" y="2624328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rpe_sugerido : str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8976" y="2843784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consejo_tecnico : str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80960" y="3639311"/>
            <a:ext cx="3931920" cy="1371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7680960" y="3639311"/>
            <a:ext cx="3931920" cy="365760"/>
          </a:xfrm>
          <a:prstGeom prst="roundRect">
            <a:avLst>
              <a:gd name="adj" fmla="val 5000"/>
            </a:avLst>
          </a:prstGeom>
          <a:solidFill>
            <a:srgbClr val="065F46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7680960" y="3931920"/>
            <a:ext cx="3931920" cy="73152"/>
          </a:xfrm>
          <a:prstGeom prst="roundRect">
            <a:avLst>
              <a:gd name="adj" fmla="val 0"/>
            </a:avLst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772400" y="3675887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34D399"/>
                </a:solidFill>
                <a:latin typeface="Segoe UI"/>
              </a:rPr>
              <a:t>RutinaResponse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08976" y="4059935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calentamiento : str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08976" y="4279392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ejercicios : List[Ejercicio]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08976" y="4498848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alternativa_rapida : str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8976" y="4718303"/>
            <a:ext cx="37124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+ tiempo_total_estimado : int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3017520" y="1828800"/>
            <a:ext cx="777240" cy="91440"/>
          </a:xfrm>
          <a:prstGeom prst="line">
            <a:avLst/>
          </a:prstGeom>
          <a:ln w="15875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017520" y="1627632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017520" y="163677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0B981"/>
                </a:solidFill>
                <a:latin typeface="Segoe UI"/>
              </a:rPr>
              <a:t>usa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3017520" y="2331720"/>
            <a:ext cx="777240" cy="914400"/>
          </a:xfrm>
          <a:prstGeom prst="line">
            <a:avLst/>
          </a:prstGeom>
          <a:ln w="15875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063240" y="2606040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063240" y="261518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0B981"/>
                </a:solidFill>
                <a:latin typeface="Segoe UI"/>
              </a:rPr>
              <a:t>usa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3017520" y="3017520"/>
            <a:ext cx="777240" cy="1188720"/>
          </a:xfrm>
          <a:prstGeom prst="line">
            <a:avLst/>
          </a:prstGeom>
          <a:ln w="15875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017520" y="3520440"/>
            <a:ext cx="96012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017520" y="35295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0B981"/>
                </a:solidFill>
                <a:latin typeface="Segoe UI"/>
              </a:rPr>
              <a:t>contiene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9646920" y="3136391"/>
            <a:ext cx="0" cy="502920"/>
          </a:xfrm>
          <a:prstGeom prst="line">
            <a:avLst/>
          </a:prstGeom>
          <a:ln w="1905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Diamond 67"/>
          <p:cNvSpPr/>
          <p:nvPr/>
        </p:nvSpPr>
        <p:spPr>
          <a:xfrm>
            <a:off x="9509760" y="3493007"/>
            <a:ext cx="274320" cy="201168"/>
          </a:xfrm>
          <a:prstGeom prst="diamond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784080" y="34564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3118103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94A3B8"/>
                </a:solidFill>
                <a:latin typeface="Segoe UI"/>
              </a:rPr>
              <a:t>many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9476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onsolas"/>
              </a:rPr>
              <a:t>RutinaResponse  “1” ◆—— ejercicios “*”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Diagrama de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UML · 3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13 / 25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371600"/>
            <a:ext cx="1600200" cy="4572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34D399"/>
                </a:solidFill>
                <a:latin typeface="Segoe UI"/>
              </a:rPr>
              <a:t>Inicio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78024" y="13716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Seleccionar objetivo, tiempo, equipo y nivel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716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Pulsar «Generar Rutina con IA»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3716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Bloquear formulario y activar spinner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37160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Enviar POST /api/generate-routine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58568" y="1600200"/>
            <a:ext cx="201168" cy="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96511" y="1600200"/>
            <a:ext cx="201169" cy="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34455" y="1600200"/>
            <a:ext cx="201169" cy="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0" y="1600200"/>
            <a:ext cx="201168" cy="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9692640" y="1188720"/>
            <a:ext cx="1920240" cy="914400"/>
          </a:xfrm>
          <a:prstGeom prst="diamond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FBBF24"/>
                </a:solidFill>
                <a:latin typeface="Segoe UI"/>
              </a:rPr>
              <a:t>¿Datos válidos
en Pydantic?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92056" y="1600200"/>
            <a:ext cx="118872" cy="4572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612880" y="1645920"/>
            <a:ext cx="274320" cy="0"/>
          </a:xfrm>
          <a:prstGeom prst="line">
            <a:avLst/>
          </a:prstGeom>
          <a:ln w="17780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887200" y="1645920"/>
            <a:ext cx="0" cy="2606040"/>
          </a:xfrm>
          <a:prstGeom prst="line">
            <a:avLst/>
          </a:prstGeom>
          <a:ln w="17780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802368" y="4251960"/>
            <a:ext cx="2084832" cy="0"/>
          </a:xfrm>
          <a:prstGeom prst="line">
            <a:avLst/>
          </a:prstGeom>
          <a:ln w="17780">
            <a:solidFill>
              <a:srgbClr val="FB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58400" y="4334256"/>
            <a:ext cx="178308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058400" y="43434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FB7185"/>
                </a:solidFill>
                <a:latin typeface="Segoe UI"/>
              </a:rPr>
              <a:t>No · HTTP 422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52760" y="2103120"/>
            <a:ext cx="201168" cy="777240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64040" y="228600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464040" y="22951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0B981"/>
                </a:solidFill>
                <a:latin typeface="Segoe UI"/>
              </a:rPr>
              <a:t>Sí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28803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Formatear System y User Prompt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28803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Llamada API OpenAI / Groq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8803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Validar respuesta con RutinaResponse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28803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Retornar HTTP 200 con JSON de rutina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28803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1F5F9"/>
                </a:solidFill>
                <a:latin typeface="Segoe UI"/>
              </a:rPr>
              <a:t>Renderizar fases y ejercicios</a:t>
            </a:r>
          </a:p>
        </p:txBody>
      </p:sp>
      <p:sp>
        <p:nvSpPr>
          <p:cNvPr id="32" name="Diamond 31"/>
          <p:cNvSpPr/>
          <p:nvPr/>
        </p:nvSpPr>
        <p:spPr>
          <a:xfrm>
            <a:off x="6172200" y="2743200"/>
            <a:ext cx="1737360" cy="960120"/>
          </a:xfrm>
          <a:prstGeom prst="diamond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BBF24"/>
                </a:solidFill>
                <a:latin typeface="Segoe UI"/>
              </a:rPr>
              <a:t>¿Respuesta
recibida y JSON
válido?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802368" y="3108960"/>
            <a:ext cx="256032" cy="0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927848" y="3108960"/>
            <a:ext cx="256031" cy="109728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5916168" y="3108960"/>
            <a:ext cx="237744" cy="109728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760720" y="3364992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60720" y="33741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10B981"/>
                </a:solidFill>
                <a:latin typeface="Segoe UI"/>
              </a:rPr>
              <a:t>Sí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041648" y="3108960"/>
            <a:ext cx="256032" cy="0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2167128" y="3108960"/>
            <a:ext cx="256032" cy="0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40880" y="3703320"/>
            <a:ext cx="0" cy="320040"/>
          </a:xfrm>
          <a:prstGeom prst="line">
            <a:avLst/>
          </a:prstGeom>
          <a:ln w="17780">
            <a:solidFill>
              <a:srgbClr val="FB71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150608" y="3730752"/>
            <a:ext cx="173736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50608" y="373989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FB7185"/>
                </a:solidFill>
                <a:latin typeface="Segoe UI"/>
              </a:rPr>
              <a:t>No · JSON inválido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0233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4C0519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B7185"/>
                </a:solidFill>
                <a:latin typeface="Segoe UI"/>
              </a:rPr>
              <a:t>Retornar HTTP 500 / 502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40233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4C0519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FB7185"/>
                </a:solidFill>
                <a:latin typeface="Segoe UI"/>
              </a:rPr>
              <a:t>Retornar error de validación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86600" y="4480560"/>
            <a:ext cx="0" cy="914400"/>
          </a:xfrm>
          <a:prstGeom prst="line">
            <a:avLst/>
          </a:prstGeom>
          <a:ln w="17780">
            <a:solidFill>
              <a:srgbClr val="FB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006840" y="4480560"/>
            <a:ext cx="0" cy="914400"/>
          </a:xfrm>
          <a:prstGeom prst="line">
            <a:avLst/>
          </a:prstGeom>
          <a:ln w="17780">
            <a:solidFill>
              <a:srgbClr val="FB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766560" y="53949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4C0519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B7185"/>
                </a:solidFill>
                <a:latin typeface="Segoe UI"/>
              </a:rPr>
              <a:t>Mostrar tarjeta de error en la UI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0" y="53949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1F5F9"/>
                </a:solidFill>
                <a:latin typeface="Segoe UI"/>
              </a:rPr>
              <a:t>Reactivar formulario</a:t>
            </a:r>
          </a:p>
        </p:txBody>
      </p:sp>
      <p:sp>
        <p:nvSpPr>
          <p:cNvPr id="49" name="Oval 48"/>
          <p:cNvSpPr/>
          <p:nvPr/>
        </p:nvSpPr>
        <p:spPr>
          <a:xfrm>
            <a:off x="548640" y="5349240"/>
            <a:ext cx="128016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34D399"/>
                </a:solidFill>
                <a:latin typeface="Segoe UI"/>
              </a:rPr>
              <a:t>Fin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4224528" y="5623560"/>
            <a:ext cx="2542032" cy="0"/>
          </a:xfrm>
          <a:prstGeom prst="line">
            <a:avLst/>
          </a:prstGeom>
          <a:ln w="17780">
            <a:solidFill>
              <a:srgbClr val="FB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847088" y="5623560"/>
            <a:ext cx="347472" cy="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344168" y="3337560"/>
            <a:ext cx="0" cy="1554480"/>
          </a:xfrm>
          <a:prstGeom prst="line">
            <a:avLst/>
          </a:prstGeom>
          <a:ln w="1778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44168" y="4892040"/>
            <a:ext cx="1856232" cy="0"/>
          </a:xfrm>
          <a:prstGeom prst="line">
            <a:avLst/>
          </a:prstGeom>
          <a:ln w="1778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00400" y="4892040"/>
            <a:ext cx="0" cy="484632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148840" y="59893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Segoe UI"/>
              </a:rPr>
              <a:t>Ruta principal (verde) · ramas de error en rosa · 422 se resuelve sin contactar la 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Diagrama de secuencia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UML · 4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14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1F5F9"/>
                </a:solidFill>
                <a:latin typeface="Segoe UI"/>
              </a:rPr>
              <a:t>Usuario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1640" y="1783080"/>
            <a:ext cx="0" cy="4572000"/>
          </a:xfrm>
          <a:prstGeom prst="line">
            <a:avLst/>
          </a:prstGeom>
          <a:ln w="1397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28016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Segoe UI"/>
              </a:rPr>
              <a:t>Vista Vue 3 (App.vue)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1783080"/>
            <a:ext cx="0" cy="4572000"/>
          </a:xfrm>
          <a:prstGeom prst="line">
            <a:avLst/>
          </a:prstGeom>
          <a:ln w="1397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128016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BBF24"/>
                </a:solidFill>
                <a:latin typeface="Segoe UI"/>
              </a:rPr>
              <a:t>Backend FastAPI (api/index.py)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89520" y="1783080"/>
            <a:ext cx="0" cy="4572000"/>
          </a:xfrm>
          <a:prstGeom prst="line">
            <a:avLst/>
          </a:prstGeom>
          <a:ln w="1397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81159" y="128016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8BDF8"/>
                </a:solidFill>
                <a:latin typeface="Segoe UI"/>
              </a:rPr>
              <a:t>Proveedor IA (OpenAI / Groq)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469880" y="1783080"/>
            <a:ext cx="0" cy="4572000"/>
          </a:xfrm>
          <a:prstGeom prst="line">
            <a:avLst/>
          </a:prstGeom>
          <a:ln w="13970">
            <a:solidFill>
              <a:srgbClr val="3341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53712" y="2240280"/>
            <a:ext cx="128016" cy="4069080"/>
          </a:xfrm>
          <a:prstGeom prst="roundRect">
            <a:avLst>
              <a:gd name="adj" fmla="val 20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525512" y="3200400"/>
            <a:ext cx="128016" cy="3108960"/>
          </a:xfrm>
          <a:prstGeom prst="roundRect">
            <a:avLst>
              <a:gd name="adj" fmla="val 20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0405872" y="5029200"/>
            <a:ext cx="128016" cy="640080"/>
          </a:xfrm>
          <a:prstGeom prst="roundRect">
            <a:avLst>
              <a:gd name="adj" fmla="val 20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9" name="Connector 18"/>
          <p:cNvCxnSpPr/>
          <p:nvPr/>
        </p:nvCxnSpPr>
        <p:spPr>
          <a:xfrm>
            <a:off x="1691640" y="2240280"/>
            <a:ext cx="2926080" cy="0"/>
          </a:xfrm>
          <a:prstGeom prst="line">
            <a:avLst/>
          </a:prstGeom>
          <a:ln w="17780">
            <a:solidFill>
              <a:srgbClr val="F1F5F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737360" y="2029968"/>
            <a:ext cx="283464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737360" y="203911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F1F5F9"/>
                </a:solidFill>
                <a:latin typeface="Segoe UI"/>
              </a:rPr>
              <a:t>1 · Modifica parámetros y pulsa «Generar Rutina»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7720" y="2697480"/>
            <a:ext cx="612648" cy="0"/>
          </a:xfrm>
          <a:prstGeom prst="line">
            <a:avLst/>
          </a:prstGeom>
          <a:ln w="16510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30368" y="2697480"/>
            <a:ext cx="0" cy="228600"/>
          </a:xfrm>
          <a:prstGeom prst="line">
            <a:avLst/>
          </a:prstGeom>
          <a:ln w="16510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681728" y="2926080"/>
            <a:ext cx="548640" cy="0"/>
          </a:xfrm>
          <a:prstGeom prst="line">
            <a:avLst/>
          </a:prstGeom>
          <a:ln w="16510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49240" y="2688336"/>
            <a:ext cx="219456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49240" y="2697479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34D399"/>
                </a:solidFill>
                <a:latin typeface="Segoe UI"/>
              </a:rPr>
              <a:t>2 · loading = true · limpia errores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17720" y="3200400"/>
            <a:ext cx="2971800" cy="0"/>
          </a:xfrm>
          <a:prstGeom prst="line">
            <a:avLst/>
          </a:prstGeom>
          <a:ln w="17780">
            <a:solidFill>
              <a:srgbClr val="F1F5F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663440" y="2990088"/>
            <a:ext cx="283464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63440" y="299923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F1F5F9"/>
                </a:solidFill>
                <a:latin typeface="Segoe UI"/>
              </a:rPr>
              <a:t>3 · POST /api/generate-routine (JSON)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0" y="3657600"/>
            <a:ext cx="612648" cy="0"/>
          </a:xfrm>
          <a:prstGeom prst="line">
            <a:avLst/>
          </a:prstGeom>
          <a:ln w="16510">
            <a:solidFill>
              <a:srgbClr val="FBBF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02168" y="3657600"/>
            <a:ext cx="0" cy="228600"/>
          </a:xfrm>
          <a:prstGeom prst="line">
            <a:avLst/>
          </a:prstGeom>
          <a:ln w="16510">
            <a:solidFill>
              <a:srgbClr val="FBBF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653527" y="3886200"/>
            <a:ext cx="548641" cy="0"/>
          </a:xfrm>
          <a:prstGeom prst="line">
            <a:avLst/>
          </a:prstGeom>
          <a:ln w="16510">
            <a:solidFill>
              <a:srgbClr val="FBBF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321040" y="3648456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21040" y="365760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FBBF24"/>
                </a:solidFill>
                <a:latin typeface="Segoe UI"/>
              </a:rPr>
              <a:t>4 · Pydantic valida tipos y rangos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4069080"/>
            <a:ext cx="8229600" cy="9601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611880" y="4069080"/>
            <a:ext cx="457200" cy="237744"/>
          </a:xfrm>
          <a:prstGeom prst="roundRect">
            <a:avLst>
              <a:gd name="adj" fmla="val 25000"/>
            </a:avLst>
          </a:prstGeom>
          <a:solidFill>
            <a:srgbClr val="FB7185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30712"/>
                </a:solidFill>
                <a:latin typeface="Segoe UI"/>
              </a:rPr>
              <a:t>alt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4114800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160520" y="412394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FB7185"/>
                </a:solidFill>
                <a:latin typeface="Segoe UI"/>
              </a:rPr>
              <a:t>[ si HTTP 4xx/5xx o fallo de red ]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4617720" y="4434840"/>
            <a:ext cx="2971800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989320" y="4224528"/>
            <a:ext cx="246888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989320" y="4233672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FB7185"/>
                </a:solidFill>
                <a:latin typeface="Segoe UI"/>
              </a:rPr>
              <a:t>5 · HTTP 422 / 500 / 502 · detail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691640" y="4800600"/>
            <a:ext cx="2926080" cy="0"/>
          </a:xfrm>
          <a:prstGeom prst="line">
            <a:avLst/>
          </a:prstGeom>
          <a:ln w="16510">
            <a:solidFill>
              <a:srgbClr val="FB71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737360" y="4590288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737360" y="4599431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FB7185"/>
                </a:solidFill>
                <a:latin typeface="Segoe UI"/>
              </a:rPr>
              <a:t>6 · Muestra panel de error · loading = false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1880" y="5120640"/>
            <a:ext cx="8229600" cy="12344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611880" y="5120640"/>
            <a:ext cx="457200" cy="23774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30712"/>
                </a:solidFill>
                <a:latin typeface="Segoe UI"/>
              </a:rPr>
              <a:t>alt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60520" y="5166360"/>
            <a:ext cx="237744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160520" y="5175504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0B981"/>
                </a:solidFill>
                <a:latin typeface="Segoe UI"/>
              </a:rPr>
              <a:t>[ si HTTP 200 OK ]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89520" y="5440680"/>
            <a:ext cx="2880360" cy="0"/>
          </a:xfrm>
          <a:prstGeom prst="line">
            <a:avLst/>
          </a:prstGeom>
          <a:ln w="17780">
            <a:solidFill>
              <a:srgbClr val="F1F5F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35240" y="5221224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635240" y="52303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1F5F9"/>
                </a:solidFill>
                <a:latin typeface="Segoe UI"/>
              </a:rPr>
              <a:t>7 · ChatCompletions.create(model, temp=0.3)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7589520" y="5760720"/>
            <a:ext cx="2880360" cy="0"/>
          </a:xfrm>
          <a:prstGeom prst="line">
            <a:avLst/>
          </a:prstGeom>
          <a:ln w="16510">
            <a:solidFill>
              <a:srgbClr val="34D39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635240" y="5541264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635240" y="5550407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34D399"/>
                </a:solidFill>
                <a:latin typeface="Segoe UI"/>
              </a:rPr>
              <a:t>8 · JSON en texto plano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4617720" y="6080760"/>
            <a:ext cx="2971800" cy="0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4663440" y="5861304"/>
            <a:ext cx="283464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663440" y="5870448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0B981"/>
                </a:solidFill>
                <a:latin typeface="Segoe UI"/>
              </a:rPr>
              <a:t>9 · HTTP 200 · RutinaResponse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1691640" y="6309360"/>
            <a:ext cx="2926080" cy="0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737360" y="6089904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737360" y="60990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10B981"/>
                </a:solidFill>
                <a:latin typeface="Segoe UI"/>
              </a:rPr>
              <a:t>10 · Renderiza calentamiento + ejercicios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Diagrama de transición de estados (frontend)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UML · 5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15 / 25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14600"/>
            <a:ext cx="274320" cy="27432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914400" y="2651760"/>
            <a:ext cx="438912" cy="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" y="2880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Segoe UI"/>
              </a:rPr>
              <a:t>[*] inicio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737360"/>
            <a:ext cx="2834640" cy="14630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Segoe UI"/>
              </a:rPr>
              <a:t>FormularioEnReposo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Edición habilitada · modificar controles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737360"/>
            <a:ext cx="2834640" cy="14630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ProcesandoPeticion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loading = true · controles bloqueados · spinner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32588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4C0519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B7185"/>
                </a:solidFill>
                <a:latin typeface="Segoe UI"/>
              </a:rPr>
              <a:t>ErrorDesplegado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alerta visible · reintento inmediato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65760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Segoe UI"/>
              </a:rPr>
              <a:t>RutinaDesplegada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tarjetas: calentamiento + ejercicios + alternativa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2468880"/>
            <a:ext cx="896112" cy="0"/>
          </a:xfrm>
          <a:prstGeom prst="line">
            <a:avLst/>
          </a:prstGeom>
          <a:ln w="190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15384" y="2212848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15384" y="2221991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10B981"/>
                </a:solidFill>
                <a:latin typeface="Segoe UI"/>
              </a:rPr>
              <a:t>click «Generar»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955279" y="1828800"/>
            <a:ext cx="896113" cy="320040"/>
          </a:xfrm>
          <a:prstGeom prst="line">
            <a:avLst/>
          </a:prstGeom>
          <a:ln w="19050">
            <a:solidFill>
              <a:srgbClr val="FB71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82712" y="2212848"/>
            <a:ext cx="868680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82712" y="2221991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>
                <a:solidFill>
                  <a:srgbClr val="FB7185"/>
                </a:solidFill>
                <a:latin typeface="Segoe UI"/>
              </a:rPr>
              <a:t>HTTP 4xx/5xx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55279" y="2788920"/>
            <a:ext cx="896113" cy="1234440"/>
          </a:xfrm>
          <a:prstGeom prst="line">
            <a:avLst/>
          </a:prstGeom>
          <a:ln w="190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21040" y="315468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316382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10B981"/>
                </a:solidFill>
                <a:latin typeface="Segoe UI"/>
              </a:rPr>
              <a:t>HTTP 200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41280" y="2697480"/>
            <a:ext cx="0" cy="685800"/>
          </a:xfrm>
          <a:prstGeom prst="line">
            <a:avLst/>
          </a:prstGeom>
          <a:ln w="17780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537960" y="3383280"/>
            <a:ext cx="3703320" cy="0"/>
          </a:xfrm>
          <a:prstGeom prst="line">
            <a:avLst/>
          </a:prstGeom>
          <a:ln w="17780">
            <a:solidFill>
              <a:srgbClr val="FB71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37960" y="3218688"/>
            <a:ext cx="0" cy="164592"/>
          </a:xfrm>
          <a:prstGeom prst="line">
            <a:avLst/>
          </a:prstGeom>
          <a:ln w="17780">
            <a:solidFill>
              <a:srgbClr val="FB7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241280" y="3547872"/>
            <a:ext cx="0" cy="109728"/>
          </a:xfrm>
          <a:prstGeom prst="line">
            <a:avLst/>
          </a:prstGeom>
          <a:ln w="1778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766560" y="3547872"/>
            <a:ext cx="3474720" cy="0"/>
          </a:xfrm>
          <a:prstGeom prst="line">
            <a:avLst/>
          </a:prstGeom>
          <a:ln w="1778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766560" y="3218688"/>
            <a:ext cx="0" cy="329184"/>
          </a:xfrm>
          <a:prstGeom prst="line">
            <a:avLst/>
          </a:prstGeom>
          <a:ln w="1778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424160" y="3255263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FB7185"/>
                </a:solidFill>
                <a:latin typeface="Segoe UI"/>
              </a:rPr>
              <a:t>reintento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483863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0B981"/>
                </a:solidFill>
                <a:latin typeface="Segoe UI"/>
              </a:rPr>
              <a:t>regenerar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8521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Segoe UI"/>
              </a:rPr>
              <a:t>Estados en App.vue: </a:t>
            </a:r>
            <a:r>
              <a:rPr sz="950" b="0">
                <a:solidFill>
                  <a:srgbClr val="94A3B8"/>
                </a:solidFill>
                <a:latin typeface="Segoe UI"/>
              </a:rPr>
              <a:t>loading, error y rutina son referencias reactivas; toda ruta final devuelve el formulario a un estado interactivo para reintentar o reconfigurar.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Plan de fases de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6 FASES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16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1527048"/>
            <a:ext cx="1005840" cy="27432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Segoe UI"/>
              </a:rPr>
              <a:t>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92807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Inicialización y entornos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39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Andamiaje Vite + plantilla Vue/TS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Tailwind init -p y barrido .vue/.ts/.html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Proxy Vite /api → localhost:8000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.venv + pip: fastapi, pydantic, openai, pytest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572000" y="1527048"/>
            <a:ext cx="1005840" cy="27432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Segoe UI"/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92807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Backend serverless con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39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Enums + WorkoutRequest (ge=20, le=75, min_length=1)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Modelos de salida Ejercicio y RutinaResponse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get_openai_client() con OPENAI_API_KEY / BASE_URL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System Prompt + limpieza defensiva de markdown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66760" y="1527048"/>
            <a:ext cx="1005840" cy="27432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Segoe UI"/>
              </a:rPr>
              <a:t>FASE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92807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Pruebas de backend con Pytest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39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TestClient de FastAPI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GET /api/health → 200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Rechazos 422: tiempo 10 min o equipo vacío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unittest.mock.patch de la IA → 200 sin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77240" y="3995928"/>
            <a:ext cx="1005840" cy="27432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Segoe UI"/>
              </a:rPr>
              <a:t>FASE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6168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Frontend Vue 3 + TypeScript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src/types/workout.ts (tipos compartidos)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Refs reactivas: 4 entradas, loading, error, rutina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toggleEquipamiento() con mínimo 1 ítem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handleSubmit con try / catch / finally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7947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572000" y="3995928"/>
            <a:ext cx="1005840" cy="27432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Segoe UI"/>
              </a:rPr>
              <a:t>FASE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6168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Pruebas frontend con Vitest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4632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Entorno jsdom en vite.config.ts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mount: los 4 controles y el botón en el DOM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fetch mockeado con vi.fn()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trigger submit + flushPromises → tarjetas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947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366760" y="3995928"/>
            <a:ext cx="1005840" cy="274320"/>
          </a:xfrm>
          <a:prstGeom prst="roundRect">
            <a:avLst>
              <a:gd name="adj" fmla="val 25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Segoe UI"/>
              </a:rPr>
              <a:t>FASE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6168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Configuración y despliegue en Vercel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84632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vercel.json: rewrites /api/* → /api/index.py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.gitignore: .venv, node_modules, dist, .env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Importar repo + Environment Variables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0" b="1">
                <a:solidFill>
                  <a:srgbClr val="10B981"/>
                </a:solidFill>
                <a:latin typeface="Segoe UI"/>
              </a:rPr>
              <a:t>▸  </a:t>
            </a:r>
            <a:r>
              <a:rPr sz="860" b="0">
                <a:solidFill>
                  <a:srgbClr val="94A3B8"/>
                </a:solidFill>
                <a:latin typeface="Segoe UI"/>
              </a:rPr>
              <a:t>Deploy y verificación en la URL pública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Pruebas automatizadas de extremo a extremo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CALIDAD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17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20440" cy="4937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" y="1554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BBF24"/>
                </a:solidFill>
                <a:latin typeface="Segoe UI"/>
              </a:rPr>
              <a:t>Pytest + HTTPX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5740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FBBF24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TestClient de FastAPI sobre api/test_api.py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FBBF24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GET /api/health → HTTP 200 y estado ok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FBBF24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422 con tiempo 10 min (ge=20 violado)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FBBF24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422 con equipamiento vacío (min_length)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FBBF24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unittest.mock.patch de get_openai_client: respuesta simulada → HTTP 200 sin consumir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5257800"/>
            <a:ext cx="3017520" cy="68580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358384"/>
            <a:ext cx="27614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64748B"/>
                </a:solidFill>
                <a:latin typeface="Consolas"/>
              </a:rPr>
              <a:t># ejecutar la suite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pytest api/test_api.py -v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80160"/>
            <a:ext cx="3520440" cy="4937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343400" y="1280160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99432" y="1554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4D399"/>
                </a:solidFill>
                <a:latin typeface="Segoe UI"/>
              </a:rPr>
              <a:t>Vitest + @vue/test-utils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05740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4D399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Entorno jsdom configurado en vite.config.ts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4D399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mount(App): se renderizan los 4 controles y el botón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4D399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global.fetch interceptado con vi.fn()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4D399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trigger("submit.prevent") + flushPromises()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4D399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Aserciones sobre calentamiento, ejercicios y alternativa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9432" y="5257800"/>
            <a:ext cx="3017520" cy="68580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27448" y="5358384"/>
            <a:ext cx="27614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64748B"/>
                </a:solidFill>
                <a:latin typeface="Consolas"/>
              </a:rPr>
              <a:t># ejecutar la suite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npm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280160"/>
            <a:ext cx="3520440" cy="4937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0" y="1280160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94192" y="1554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8BDF8"/>
                </a:solidFill>
                <a:latin typeface="Segoe UI"/>
              </a:rPr>
              <a:t>vue-tsc --noEmit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05740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TypeScript estricto en todo el frontend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Tipos de src/types/workout.ts coherentes con Pydantic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Cero errores como requisito de compilación (RNF-05)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Se ejecuta en el propio script de 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5257800"/>
            <a:ext cx="3017520" cy="68580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22208" y="5358384"/>
            <a:ext cx="27614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64748B"/>
                </a:solidFill>
                <a:latin typeface="Consolas"/>
              </a:rPr>
              <a:t># ejecutar la suite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npx vue-tsc --noEmit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Despliegue · Arquitectura serverless en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MONOREPOSITORIO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18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Repositorio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980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0B981"/>
                </a:solidFill>
                <a:latin typeface="Consolas"/>
              </a:rPr>
              <a:t>fitadapt-vue-ts/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▸  </a:t>
            </a:r>
            <a:r>
              <a:rPr sz="900" b="0">
                <a:solidFill>
                  <a:srgbClr val="94A3B8"/>
                </a:solidFill>
                <a:latin typeface="Segoe UI"/>
              </a:rPr>
              <a:t>src/  →  cliente Vue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▸  </a:t>
            </a:r>
            <a:r>
              <a:rPr sz="900" b="0">
                <a:solidFill>
                  <a:srgbClr val="94A3B8"/>
                </a:solidFill>
                <a:latin typeface="Segoe UI"/>
              </a:rPr>
              <a:t>api/  →  FastAPI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▸  </a:t>
            </a:r>
            <a:r>
              <a:rPr sz="900" b="0">
                <a:solidFill>
                  <a:srgbClr val="94A3B8"/>
                </a:solidFill>
                <a:latin typeface="Segoe UI"/>
              </a:rPr>
              <a:t>requirements.txt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Build Vite → /dist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SPA compilada a estáticos: index.html + assets con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108960" cy="18288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Función serverless /api/index.py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Runtime Python: FastAPI + Pydantic · secretos en variables de entorno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28600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77072" y="248716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Mismo origen
https://&lt;proyecto&gt;.vercel.app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10896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34D399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rewrites: /api/* → index.py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34D399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Sin CORS: todo bajo un dominio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34D399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HTTPS y CDN automáticos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200400" y="2286000"/>
            <a:ext cx="1078992" cy="73152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0" y="3657600"/>
            <a:ext cx="1078992" cy="91440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2148840"/>
            <a:ext cx="896112" cy="68580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06640" y="4023360"/>
            <a:ext cx="896112" cy="64008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60350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Vercel detecta automáticamente </a:t>
            </a:r>
            <a:r>
              <a:rPr sz="950" b="1">
                <a:solidFill>
                  <a:srgbClr val="34D399"/>
                </a:solidFill>
                <a:latin typeface="Segoe UI"/>
              </a:rPr>
              <a:t>requirements.txt</a:t>
            </a:r>
            <a:r>
              <a:rPr sz="950" b="0">
                <a:solidFill>
                  <a:srgbClr val="94A3B8"/>
                </a:solidFill>
                <a:latin typeface="Segoe UI"/>
              </a:rPr>
              <a:t> para el runtime de Python, </a:t>
            </a:r>
            <a:r>
              <a:rPr sz="950" b="1">
                <a:solidFill>
                  <a:srgbClr val="34D399"/>
                </a:solidFill>
                <a:latin typeface="Segoe UI"/>
              </a:rPr>
              <a:t>api/__init__.py</a:t>
            </a:r>
            <a:r>
              <a:rPr sz="950" b="0">
                <a:solidFill>
                  <a:srgbClr val="94A3B8"/>
                </a:solidFill>
                <a:latin typeface="Segoe UI"/>
              </a:rPr>
              <a:t> como paquete y el framework Vite en el build.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Despliegue · Enrutamiento: local vs.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VERCEL.JSON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19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343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8BDF8"/>
                </a:solidFill>
                <a:latin typeface="Segoe UI"/>
              </a:rPr>
              <a:t>Desarrollo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Dos terminales: </a:t>
            </a:r>
            <a:r>
              <a:rPr sz="980" b="0">
                <a:solidFill>
                  <a:srgbClr val="94A3B8"/>
                </a:solidFill>
                <a:latin typeface="Segoe UI"/>
              </a:rPr>
              <a:t>uvicorn api.index:app --reload --port 8000 y npm run dev (:5173).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Proxy de Vite: </a:t>
            </a:r>
            <a:r>
              <a:rPr sz="980" b="0">
                <a:solidFill>
                  <a:srgbClr val="94A3B8"/>
                </a:solidFill>
                <a:latin typeface="Segoe UI"/>
              </a:rPr>
              <a:t>server.proxy redirige /api/* al puerto 8000.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Misma ruta que en producción: </a:t>
            </a:r>
            <a:r>
              <a:rPr sz="980" b="0">
                <a:solidFill>
                  <a:srgbClr val="94A3B8"/>
                </a:solidFill>
                <a:latin typeface="Segoe UI"/>
              </a:rPr>
              <a:t>/api/generate-routine sin cambiar código.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4846320" cy="201168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3438144"/>
            <a:ext cx="45902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64748B"/>
                </a:solidFill>
                <a:latin typeface="Consolas"/>
              </a:rPr>
              <a:t>// vite.config.ts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server: {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proxy: {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  </a:t>
            </a:r>
            <a:r>
              <a:rPr sz="950">
                <a:solidFill>
                  <a:srgbClr val="6EE7B7"/>
                </a:solidFill>
                <a:latin typeface="Consolas"/>
              </a:rPr>
              <a:t>"/api"</a:t>
            </a:r>
            <a:r>
              <a:rPr sz="950">
                <a:solidFill>
                  <a:srgbClr val="F1F5F9"/>
                </a:solidFill>
                <a:latin typeface="Consolas"/>
              </a:rPr>
              <a:t>: {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    target: </a:t>
            </a:r>
            <a:r>
              <a:rPr sz="950">
                <a:solidFill>
                  <a:srgbClr val="6EE7B7"/>
                </a:solidFill>
                <a:latin typeface="Consolas"/>
              </a:rPr>
              <a:t>"http://127.0.0.1:8000"</a:t>
            </a:r>
            <a:r>
              <a:rPr sz="95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    changeOrigin: true,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280160"/>
            <a:ext cx="5394960" cy="4343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9672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Producción (Vercel)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2024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Build estático: </a:t>
            </a:r>
            <a:r>
              <a:rPr sz="980" b="0">
                <a:solidFill>
                  <a:srgbClr val="94A3B8"/>
                </a:solidFill>
                <a:latin typeface="Segoe UI"/>
              </a:rPr>
              <a:t>vite build genera /dist servido por el CDN.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Rewrites: </a:t>
            </a:r>
            <a:r>
              <a:rPr sz="980" b="0">
                <a:solidFill>
                  <a:srgbClr val="94A3B8"/>
                </a:solidFill>
                <a:latin typeface="Segoe UI"/>
              </a:rPr>
              <a:t>toda petición /api/(.*) se reescribe a /api/index.py.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Sin proxy y sin CORS: </a:t>
            </a:r>
            <a:r>
              <a:rPr sz="980" b="0">
                <a:solidFill>
                  <a:srgbClr val="94A3B8"/>
                </a:solidFill>
                <a:latin typeface="Segoe UI"/>
              </a:rPr>
              <a:t>frontend y backend comparten origen.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3337560"/>
            <a:ext cx="4846320" cy="201168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47688" y="3438144"/>
            <a:ext cx="45902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</a:t>
            </a:r>
            <a:r>
              <a:rPr sz="950">
                <a:solidFill>
                  <a:srgbClr val="6EE7B7"/>
                </a:solidFill>
                <a:latin typeface="Consolas"/>
              </a:rPr>
              <a:t>"rewrites"</a:t>
            </a:r>
            <a:r>
              <a:rPr sz="950">
                <a:solidFill>
                  <a:srgbClr val="F1F5F9"/>
                </a:solidFill>
                <a:latin typeface="Consolas"/>
              </a:rPr>
              <a:t>: [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    </a:t>
            </a:r>
            <a:r>
              <a:rPr sz="950">
                <a:solidFill>
                  <a:srgbClr val="6EE7B7"/>
                </a:solidFill>
                <a:latin typeface="Consolas"/>
              </a:rPr>
              <a:t>"source"</a:t>
            </a:r>
            <a:r>
              <a:rPr sz="950">
                <a:solidFill>
                  <a:srgbClr val="F1F5F9"/>
                </a:solidFill>
                <a:latin typeface="Consolas"/>
              </a:rPr>
              <a:t>: </a:t>
            </a:r>
            <a:r>
              <a:rPr sz="950">
                <a:solidFill>
                  <a:srgbClr val="6EE7B7"/>
                </a:solidFill>
                <a:latin typeface="Consolas"/>
              </a:rPr>
              <a:t>"/api/(.*)"</a:t>
            </a:r>
            <a:r>
              <a:rPr sz="950">
                <a:solidFill>
                  <a:srgbClr val="F1F5F9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    </a:t>
            </a:r>
            <a:r>
              <a:rPr sz="950">
                <a:solidFill>
                  <a:srgbClr val="6EE7B7"/>
                </a:solidFill>
                <a:latin typeface="Consolas"/>
              </a:rPr>
              <a:t>"destination"</a:t>
            </a:r>
            <a:r>
              <a:rPr sz="950">
                <a:solidFill>
                  <a:srgbClr val="F1F5F9"/>
                </a:solidFill>
                <a:latin typeface="Consolas"/>
              </a:rPr>
              <a:t>: </a:t>
            </a:r>
            <a:r>
              <a:rPr sz="950">
                <a:solidFill>
                  <a:srgbClr val="6EE7B7"/>
                </a:solidFill>
                <a:latin typeface="Consolas"/>
              </a:rPr>
              <a:t>"/api/index.py"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  ]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4D399"/>
                </a:solidFill>
                <a:latin typeface="Segoe UI"/>
              </a:rPr>
              <a:t>RNF-04 — </a:t>
            </a:r>
            <a:r>
              <a:rPr sz="1000" b="0">
                <a:solidFill>
                  <a:srgbClr val="F1F5F9"/>
                </a:solidFill>
                <a:latin typeface="Segoe UI"/>
              </a:rPr>
              <a:t>mismo código en ambos entornos: el proxy local y los rewrites de producción exponen idéntica ruta /api/* bajo un solo origen.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Despliegue · Secretos y variables de entorno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RNF-01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20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200400" cy="10058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.env local (gitignored)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Desarrollo con python-dotenv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Vercel → Settings → Environment Variables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Inyectadas en el runtime de la función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3108960" cy="14630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Segoe UI"/>
              </a:rPr>
              <a:t>Runtime de la función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os.getenv("OPENAI_API_KEY") · nunca se serializa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011680"/>
            <a:ext cx="3291840" cy="1463040"/>
          </a:xfrm>
          <a:prstGeom prst="roundRect">
            <a:avLst>
              <a:gd name="adj" fmla="val 12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Segoe UI"/>
              </a:rPr>
              <a:t>SDK OpenAI → LLM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chat.completions.create(...) con temperature 0.3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49039" y="1874519"/>
            <a:ext cx="804673" cy="594361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49039" y="3017520"/>
            <a:ext cx="804673" cy="27432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80960" y="2743200"/>
            <a:ext cx="621792" cy="0"/>
          </a:xfrm>
          <a:prstGeom prst="line">
            <a:avLst/>
          </a:prstGeom>
          <a:ln w="1778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4297680"/>
            <a:ext cx="3200400" cy="141732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6" y="4398264"/>
            <a:ext cx="294436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1F5F9"/>
                </a:solidFill>
                <a:latin typeface="Consolas"/>
              </a:rPr>
              <a:t/>
            </a:r>
            <a:r>
              <a:rPr sz="850">
                <a:solidFill>
                  <a:srgbClr val="64748B"/>
                </a:solidFill>
                <a:latin typeface="Consolas"/>
              </a:rPr>
              <a:t># .env.example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F1F5F9"/>
                </a:solidFill>
                <a:latin typeface="Consolas"/>
              </a:rPr>
              <a:t/>
            </a:r>
            <a:r>
              <a:rPr sz="850">
                <a:solidFill>
                  <a:srgbClr val="F1F5F9"/>
                </a:solidFill>
                <a:latin typeface="Consolas"/>
              </a:rPr>
              <a:t>OPENAI_API_KEY=sk-tu-api-key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F1F5F9"/>
                </a:solidFill>
                <a:latin typeface="Consolas"/>
              </a:rPr>
              <a:t/>
            </a:r>
            <a:r>
              <a:rPr sz="850">
                <a:solidFill>
                  <a:srgbClr val="64748B"/>
                </a:solidFill>
                <a:latin typeface="Consolas"/>
              </a:rPr>
              <a:t># OPENAI_BASE_URL=https://api.groq.com/openai/v1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F1F5F9"/>
                </a:solidFill>
                <a:latin typeface="Consolas"/>
              </a:rPr>
              <a:t/>
            </a:r>
            <a:r>
              <a:rPr sz="850">
                <a:solidFill>
                  <a:srgbClr val="64748B"/>
                </a:solidFill>
                <a:latin typeface="Consolas"/>
              </a:rPr>
              <a:t># AI_MODEL=llama-3.3-70b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297680"/>
            <a:ext cx="7040880" cy="1417320"/>
          </a:xfrm>
          <a:prstGeom prst="roundRect">
            <a:avLst>
              <a:gd name="adj" fmla="val 8000"/>
            </a:avLst>
          </a:prstGeom>
          <a:solidFill>
            <a:srgbClr val="4C0519"/>
          </a:solidFill>
          <a:ln w="12700">
            <a:solidFill>
              <a:srgbClr val="9F1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46320" y="4498848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B7185"/>
                </a:solidFill>
                <a:latin typeface="Segoe UI"/>
              </a:rPr>
              <a:t>El navegador nunca ve la clave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846320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B7185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Ningún encabezado, payload ni bundle de /dist contiene OPENAI_API_KEY.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FB7185"/>
                </a:solidFill>
                <a:latin typeface="Segoe UI"/>
              </a:rPr>
              <a:t>▸  </a:t>
            </a:r>
            <a:r>
              <a:rPr sz="950" b="0">
                <a:solidFill>
                  <a:srgbClr val="94A3B8"/>
                </a:solidFill>
                <a:latin typeface="Segoe UI"/>
              </a:rPr>
              <a:t>Groq compatible: OPENAI_BASE_URL + AI_MODEL como variables opcionales.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94A3B8"/>
                </a:solidFill>
                <a:latin typeface="Segoe UI"/>
              </a:rPr>
              <a:t>.gitignore excluye .env, .venv, node_modules y dist: ningún secreto llega al repositorio.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Despliegue · Pasos de despliegue en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PASO A PASO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21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154533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7218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Control de versiones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94A3B8"/>
                </a:solidFill>
                <a:latin typeface="Segoe UI"/>
              </a:rPr>
              <a:t>git init · git add . · commit inicial · push a la rama main del repositorio remoto.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13432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7240" y="2532888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5973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Crear el proyecto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94A3B8"/>
                </a:solidFill>
                <a:latin typeface="Segoe UI"/>
              </a:rPr>
              <a:t>Vercel Dashboard → Add New → Project y seleccionar el repositorio importado.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00984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472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Detección automática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3075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94A3B8"/>
                </a:solidFill>
                <a:latin typeface="Segoe UI"/>
              </a:rPr>
              <a:t>Vercel identifica el framework Vite y el build de npm; el runtime Python se deduce de requirements.txt.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88536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77240" y="4507992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348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Environment 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18304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94A3B8"/>
                </a:solidFill>
                <a:latin typeface="Segoe UI"/>
              </a:rPr>
              <a:t>OPENAI_API_KEY (obligatoria); opcionalmente OPENAI_BASE_URL y AI_MODEL para Groq.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76088"/>
            <a:ext cx="6675120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77240" y="5495544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2239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705856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94A3B8"/>
                </a:solidFill>
                <a:latin typeface="Segoe UI"/>
              </a:rPr>
              <a:t>Pulsar Deploy: se compila la SPA en /dist y se publica la función serverless de /api/index.py.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325880"/>
            <a:ext cx="4187952" cy="228600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0376" y="1426464"/>
            <a:ext cx="3931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64748B"/>
                </a:solidFill>
                <a:latin typeface="Consolas"/>
              </a:rPr>
              <a:t># terminal local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git init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git add .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git commit -m </a:t>
            </a:r>
            <a:r>
              <a:rPr sz="900">
                <a:solidFill>
                  <a:srgbClr val="6EE7B7"/>
                </a:solidFill>
                <a:latin typeface="Consolas"/>
              </a:rPr>
              <a:t>"feat: FitAdapt MVP"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git branch -M main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git remote add origin &lt;URL_REPO&gt;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F1F5F9"/>
                </a:solidFill>
                <a:latin typeface="Consolas"/>
              </a:rPr>
              <a:t/>
            </a:r>
            <a:r>
              <a:rPr sz="900">
                <a:solidFill>
                  <a:srgbClr val="F1F5F9"/>
                </a:solidFill>
                <a:latin typeface="Consolas"/>
              </a:rPr>
              <a:t>git push -u origin main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3794760"/>
            <a:ext cx="4187952" cy="24688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80960" y="3977639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B981"/>
                </a:solidFill>
                <a:latin typeface="Segoe UI"/>
              </a:rPr>
              <a:t>Environment Variables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4370832"/>
            <a:ext cx="3749039" cy="457200"/>
          </a:xfrm>
          <a:prstGeom prst="roundRect">
            <a:avLst>
              <a:gd name="adj" fmla="val 2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2569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Consolas"/>
              </a:rPr>
              <a:t>OPENAI_API_KEY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425696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Segoe UI"/>
              </a:rPr>
              <a:t>obligatoria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4937760"/>
            <a:ext cx="3749039" cy="457200"/>
          </a:xfrm>
          <a:prstGeom prst="roundRect">
            <a:avLst>
              <a:gd name="adj" fmla="val 2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99262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Consolas"/>
              </a:rPr>
              <a:t>OPENAI_BASE_URL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992624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Segoe UI"/>
              </a:rPr>
              <a:t>opcional · Groq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5504688"/>
            <a:ext cx="3749039" cy="457200"/>
          </a:xfrm>
          <a:prstGeom prst="roundRect">
            <a:avLst>
              <a:gd name="adj" fmla="val 2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5595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4A3B8"/>
                </a:solidFill>
                <a:latin typeface="Consolas"/>
              </a:rPr>
              <a:t>AI_MODEL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55955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Segoe UI"/>
              </a:rPr>
              <a:t>opcional · Groq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Despliegue · Verificación en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22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82296" cy="20116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22959" y="158191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002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Health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402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Abrir /api/health en la URL pública: debe responder {"status": "ok"} desde la función Python.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343400" y="1325880"/>
            <a:ext cx="82296" cy="20116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617720" y="158191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6002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Flujo completo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2402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Generar una rutina con parámetros válidos y comprobar el renderizado de tarjetas.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82296" cy="201168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412480" y="158191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6002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Validación server-side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402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Manipular el payload (tiempo = 10) con DevTools y esperar HTTP 422.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20439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48640" y="3520439"/>
            <a:ext cx="82296" cy="201168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22959" y="377647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79475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Sin fugas de credenciales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4348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DevTools → Network: ni headers ni payloads contienen sk-... o gsk-....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520439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343400" y="3520439"/>
            <a:ext cx="82296" cy="20116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4617720" y="377647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79475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Sin errores de CORS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4348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Consola del navegador limpia: frontend y API comparten origen.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520439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138160" y="3520439"/>
            <a:ext cx="82296" cy="20116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412480" y="377647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30712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79475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Calidad local previa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4348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4A3B8"/>
                </a:solidFill>
                <a:latin typeface="Segoe UI"/>
              </a:rPr>
              <a:t>pytest + npm test + vue-tsc --noEmit en verde antes de cada push.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34D399"/>
                </a:solidFill>
                <a:latin typeface="Segoe UI"/>
              </a:rPr>
              <a:t>La verificación se realiza sobre la URL pública generada tras el deploy, sin bloqueos por CORS ni fugas de credenciales.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Despliegue · Vercel CLI y deployments de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CONTENIDO EXTRA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23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8BDF8"/>
                </a:solidFill>
                <a:latin typeface="Segoe UI"/>
              </a:rPr>
              <a:t>Vercel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 </a:t>
            </a:r>
            <a:r>
              <a:rPr sz="980" b="0">
                <a:solidFill>
                  <a:srgbClr val="94A3B8"/>
                </a:solidFill>
                <a:latin typeface="Segoe UI"/>
              </a:rPr>
              <a:t>Instalación global: npm install -g vercel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 </a:t>
            </a:r>
            <a:r>
              <a:rPr sz="980" b="0">
                <a:solidFill>
                  <a:srgbClr val="94A3B8"/>
                </a:solidFill>
                <a:latin typeface="Segoe UI"/>
              </a:rPr>
              <a:t>vercel login — autenticación en la cuenta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 </a:t>
            </a:r>
            <a:r>
              <a:rPr sz="980" b="0">
                <a:solidFill>
                  <a:srgbClr val="94A3B8"/>
                </a:solidFill>
                <a:latin typeface="Segoe UI"/>
              </a:rPr>
              <a:t>vercel — despliegue de preview desde terminal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 </a:t>
            </a:r>
            <a:r>
              <a:rPr sz="980" b="0">
                <a:solidFill>
                  <a:srgbClr val="94A3B8"/>
                </a:solidFill>
                <a:latin typeface="Segoe UI"/>
              </a:rPr>
              <a:t>vercel --prod — despliegue directo a producción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 </a:t>
            </a:r>
            <a:r>
              <a:rPr sz="980" b="0">
                <a:solidFill>
                  <a:srgbClr val="94A3B8"/>
                </a:solidFill>
                <a:latin typeface="Segoe UI"/>
              </a:rPr>
              <a:t>vercel logs &lt;url&gt; — logs en tiempo real de la función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39"/>
            <a:ext cx="4846320" cy="219456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3849624"/>
            <a:ext cx="4590288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64748B"/>
                </a:solidFill>
                <a:latin typeface="Consolas"/>
              </a:rPr>
              <a:t># flujo típico sin salir de la terminal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npm install -g vercel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vercel login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vercel       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preview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vercel --prod          </a:t>
            </a:r>
            <a:r>
              <a:rPr sz="950">
                <a:solidFill>
                  <a:srgbClr val="64748B"/>
                </a:solidFill>
                <a:latin typeface="Consolas"/>
              </a:rPr>
              <a:t># producción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vercel logs https:</a:t>
            </a:r>
            <a:r>
              <a:rPr sz="950">
                <a:solidFill>
                  <a:srgbClr val="64748B"/>
                </a:solidFill>
                <a:latin typeface="Consolas"/>
              </a:rPr>
              <a:t>//&lt;app&gt;.vercel.app/api/generate-routine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280160"/>
            <a:ext cx="5394960" cy="4937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9672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Deployments de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2024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Cada push genera una URL: </a:t>
            </a:r>
            <a:r>
              <a:rPr sz="980" b="0">
                <a:solidFill>
                  <a:srgbClr val="94A3B8"/>
                </a:solidFill>
                <a:latin typeface="Segoe UI"/>
              </a:rPr>
              <a:t>toda rama recibe un deployment de preview con URL única y aislado de la producción.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Revisión antes de fusionar: </a:t>
            </a:r>
            <a:r>
              <a:rPr sz="980" b="0">
                <a:solidFill>
                  <a:srgbClr val="94A3B8"/>
                </a:solidFill>
                <a:latin typeface="Segoe UI"/>
              </a:rPr>
              <a:t>el preview permite probar la rutina real con IA encadenada antes de mergear a main.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Integración con PR: </a:t>
            </a:r>
            <a:r>
              <a:rPr sz="980" b="0">
                <a:solidFill>
                  <a:srgbClr val="94A3B8"/>
                </a:solidFill>
                <a:latin typeface="Segoe UI"/>
              </a:rPr>
              <a:t>los despliegues se comentan automáticamente en los pull requests de GitHub/GitLab con enlace directo.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Environments: </a:t>
            </a:r>
            <a:r>
              <a:rPr sz="980" b="0">
                <a:solidFill>
                  <a:srgbClr val="94A3B8"/>
                </a:solidFill>
                <a:latin typeface="Segoe UI"/>
              </a:rPr>
              <a:t>preview y producción admiten variables de entorno distintas (por ejemplo, claves de prueba frente a definitivas).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Protección: </a:t>
            </a:r>
            <a:r>
              <a:rPr sz="980" b="0">
                <a:solidFill>
                  <a:srgbClr val="94A3B8"/>
                </a:solidFill>
                <a:latin typeface="Segoe UI"/>
              </a:rPr>
              <a:t>se pueden proteger deployments con contraseña para compartirlos externamente sin publicar la app.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Rollback: </a:t>
            </a:r>
            <a:r>
              <a:rPr sz="980" b="0">
                <a:solidFill>
                  <a:srgbClr val="94A3B8"/>
                </a:solidFill>
                <a:latin typeface="Segoe UI"/>
              </a:rPr>
              <a:t>el dashboard permite restaurar cualquier deployment anterior en un clic si algo falla en producción.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355080"/>
            <a:ext cx="5486400" cy="0"/>
          </a:xfrm>
          <a:prstGeom prst="roundRect">
            <a:avLst>
              <a:gd name="adj" fmla="val 25000"/>
            </a:avLst>
          </a:prstGeom>
          <a:solidFill>
            <a:srgbClr val="030712"/>
          </a:solidFill>
          <a:ln w="12700">
            <a:solidFill>
              <a:srgbClr val="0307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30712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635508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Segoe UI"/>
              </a:rPr>
              <a:t>Nota: contenido adicional, no incluido en el documento de la práctica.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Despliegue · Dominio personalizado y monitorización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CONTENIDO EXTRA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24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8BDF8"/>
                </a:solidFill>
                <a:latin typeface="Segoe UI"/>
              </a:rPr>
              <a:t>Dominio personalizado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0253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6596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5F9"/>
                </a:solidFill>
                <a:latin typeface="Segoe UI"/>
              </a:rPr>
              <a:t>Añadir el dominio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40279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4A3B8"/>
                </a:solidFill>
                <a:latin typeface="Segoe UI"/>
              </a:rPr>
              <a:t>Project → Settings → Domains → Add y escribir el dominio comprado.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5234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5F9"/>
                </a:solidFill>
                <a:latin typeface="Segoe UI"/>
              </a:rPr>
              <a:t>Configurar el 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26663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4A3B8"/>
                </a:solidFill>
                <a:latin typeface="Segoe UI"/>
              </a:rPr>
              <a:t>Registro A o CNAME apuntando a cname.vercel-dns.com (o el destino indicado).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75303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38727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5F9"/>
                </a:solidFill>
                <a:latin typeface="Segoe UI"/>
              </a:rPr>
              <a:t>Certificado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13048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4A3B8"/>
                </a:solidFill>
                <a:latin typeface="Segoe UI"/>
              </a:rPr>
              <a:t>Vercel emite y renueva el TLS de Let's Encrypt sin configuración adicional.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61688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251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5F9"/>
                </a:solidFill>
                <a:latin typeface="Segoe UI"/>
              </a:rPr>
              <a:t>Dominio por defecto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599431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4A3B8"/>
                </a:solidFill>
                <a:latin typeface="Segoe UI"/>
              </a:rPr>
              <a:t>La app ya vive en &lt;proyecto&gt;.vercel.app; el dominio propio se suma a él.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148072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11149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5F9"/>
                </a:solidFill>
                <a:latin typeface="Segoe UI"/>
              </a:rPr>
              <a:t>Redirecciones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385816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4A3B8"/>
                </a:solidFill>
                <a:latin typeface="Segoe UI"/>
              </a:rPr>
              <a:t>Se pueden forzar www ↔ apex o redirigir dominios antiguos.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128016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19672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Logs y monitorización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196596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Runtime Logs: </a:t>
            </a:r>
            <a:r>
              <a:rPr sz="980" b="0">
                <a:solidFill>
                  <a:srgbClr val="94A3B8"/>
                </a:solidFill>
                <a:latin typeface="Segoe UI"/>
              </a:rPr>
              <a:t>salida en vivo de la función serverless mientras se genera una rutina.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Filtrado por función: </a:t>
            </a:r>
            <a:r>
              <a:rPr sz="980" b="0">
                <a:solidFill>
                  <a:srgbClr val="94A3B8"/>
                </a:solidFill>
                <a:latin typeface="Segoe UI"/>
              </a:rPr>
              <a:t>aislar /api/index.py para inspeccionar validaciones y errores 422/500.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Métricas: </a:t>
            </a:r>
            <a:r>
              <a:rPr sz="980" b="0">
                <a:solidFill>
                  <a:srgbClr val="94A3B8"/>
                </a:solidFill>
                <a:latin typeface="Segoe UI"/>
              </a:rPr>
              <a:t>duración, memoria y número de invocaciones por periodo.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CLI: </a:t>
            </a:r>
            <a:r>
              <a:rPr sz="980" b="0">
                <a:solidFill>
                  <a:srgbClr val="94A3B8"/>
                </a:solidFill>
                <a:latin typeface="Segoe UI"/>
              </a:rPr>
              <a:t>vercel logs &lt;deployment-url&gt; para seguir la ejecución desde terminal.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80" b="1">
                <a:solidFill>
                  <a:srgbClr val="10B981"/>
                </a:solidFill>
                <a:latin typeface="Segoe UI"/>
              </a:rPr>
              <a:t>▸  </a:t>
            </a:r>
            <a:r>
              <a:rPr sz="980" b="1">
                <a:solidFill>
                  <a:srgbClr val="F1F5F9"/>
                </a:solidFill>
                <a:latin typeface="Segoe UI"/>
              </a:rPr>
              <a:t>Alertas: </a:t>
            </a:r>
            <a:r>
              <a:rPr sz="980" b="0">
                <a:solidFill>
                  <a:srgbClr val="94A3B8"/>
                </a:solidFill>
                <a:latin typeface="Segoe UI"/>
              </a:rPr>
              <a:t>avisos por correo ante tasas de error elevadas en producción.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9672" y="4480560"/>
            <a:ext cx="4846320" cy="114300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47688" y="4581144"/>
            <a:ext cx="45902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64748B"/>
                </a:solidFill>
                <a:latin typeface="Consolas"/>
              </a:rPr>
              <a:t># seguir una funcion en vivo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1F5F9"/>
                </a:solidFill>
                <a:latin typeface="Consolas"/>
              </a:rPr>
              <a:t/>
            </a:r>
            <a:r>
              <a:rPr sz="950">
                <a:solidFill>
                  <a:srgbClr val="F1F5F9"/>
                </a:solidFill>
                <a:latin typeface="Consolas"/>
              </a:rPr>
              <a:t>vercel logs https:</a:t>
            </a:r>
            <a:r>
              <a:rPr sz="950">
                <a:solidFill>
                  <a:srgbClr val="64748B"/>
                </a:solidFill>
                <a:latin typeface="Consolas"/>
              </a:rPr>
              <a:t>//&lt;app&gt;.vercel.app/api/health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Segoe UI"/>
              </a:rPr>
              <a:t>Nota: contenido adicional, no incluido en el documento de la práctica.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29768"/>
            <a:ext cx="82296" cy="40233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5F9"/>
                </a:solidFill>
                <a:latin typeface="Segoe U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3959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CIERRE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60704"/>
            <a:ext cx="110916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FitAdapt AI  ·  Práctica 01  ·  Arquitectura full-stack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73952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25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22959" y="1600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1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Arquitectura serverless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4028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SPA Vite compilada a estáticos y funciones Python bajo un mismo origen: sin CORS, sin servidor propio y con despliegue único desde el repositorio.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19672" y="1600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164591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Seguridad por diseño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24028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Secretos confinados en el runtime, System Prompt blindado, parámetros restringidos a enumeraciones y doble barrera de validación (UI + Pydantic v2).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22959" y="37490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9475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Calidad verificable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3891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Pytest con mocks de la IA, Vitest sobre jsdom y vue-tsc en modo estricto: el contrato de datos se comprueba en ambos extremos.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47472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519672" y="37490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30712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379475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Del código a una URL pública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3891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Seis fases de ejecución, un monorepositorio y una checklist de verificación que lleva la aplicación desde local hasta producción en Vercel.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065F4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FitAdapt AI — </a:t>
            </a:r>
            <a:r>
              <a:rPr sz="1300" b="0">
                <a:solidFill>
                  <a:srgbClr val="F1F5F9"/>
                </a:solidFill>
                <a:latin typeface="Segoe UI"/>
              </a:rPr>
              <a:t>del formulario a la rutina en una sola pantalla.  ·  ¡Gracias!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